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字魂创粗黑" panose="00000500000000000000" charset="-122"/>
      <p:regular r:id="rId14"/>
    </p:embeddedFont>
    <p:embeddedFont>
      <p:font typeface="微软雅黑" panose="020B0503020204020204" pitchFamily="34" charset="-122"/>
      <p:regular r:id="rId15"/>
      <p:bold r:id="rId16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842" autoAdjust="0"/>
  </p:normalViewPr>
  <p:slideViewPr>
    <p:cSldViewPr snapToGrid="0">
      <p:cViewPr varScale="1">
        <p:scale>
          <a:sx n="63" d="100"/>
          <a:sy n="63" d="100"/>
        </p:scale>
        <p:origin x="14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点击间隔</c:v>
          </c:tx>
          <c:spPr>
            <a:solidFill>
              <a:srgbClr val="BBBBD9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BBBBD9"/>
              </a:solidFill>
            </c:spPr>
            <c:extLst>
              <c:ext xmlns:c16="http://schemas.microsoft.com/office/drawing/2014/chart" uri="{C3380CC4-5D6E-409C-BE32-E72D297353CC}">
                <c16:uniqueId val="{00000001-8186-465B-AD42-CE947AA6D6F0}"/>
              </c:ext>
            </c:extLst>
          </c:dPt>
          <c:dPt>
            <c:idx val="1"/>
            <c:invertIfNegative val="0"/>
            <c:bubble3D val="0"/>
            <c:spPr>
              <a:solidFill>
                <a:srgbClr val="57528F"/>
              </a:solidFill>
            </c:spPr>
            <c:extLst>
              <c:ext xmlns:c16="http://schemas.microsoft.com/office/drawing/2014/chart" uri="{C3380CC4-5D6E-409C-BE32-E72D297353CC}">
                <c16:uniqueId val="{00000003-8186-465B-AD42-CE947AA6D6F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282743"/>
                    </a:solidFill>
                    <a:latin typeface="微软雅黑"/>
                    <a:ea typeface="微软雅黑"/>
                    <a:cs typeface="微软雅黑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单步平均</c:v>
                </c:pt>
                <c:pt idx="1">
                  <c:v>19到20</c:v>
                </c:pt>
              </c:strCache>
            </c:strRef>
          </c:cat>
          <c:val>
            <c:numRef>
              <c:f>'Chart Data'!$B$2:$B$3</c:f>
              <c:numCache>
                <c:formatCode>0.0</c:formatCode>
                <c:ptCount val="2"/>
                <c:pt idx="0">
                  <c:v>2.2999999999999998</c:v>
                </c:pt>
                <c:pt idx="1">
                  <c:v>5.8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4-8186-465B-AD42-CE947AA6D6F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>
                    <a:latin typeface="微软雅黑"/>
                    <a:ea typeface="微软雅黑"/>
                    <a:cs typeface="微软雅黑"/>
                  </a:rPr>
                  <a:t>目标区间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9769A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w="9525">
              <a:solidFill>
                <a:srgbClr val="E9E8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>
                    <a:latin typeface="微软雅黑"/>
                    <a:ea typeface="微软雅黑"/>
                    <a:cs typeface="微软雅黑"/>
                  </a:rPr>
                  <a:t>点击间隔（秒）</a:t>
                </a:r>
              </a:p>
            </c:rich>
          </c:tx>
          <c:overlay val="0"/>
        </c:title>
        <c:numFmt formatCode="0.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25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2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平均完成用时</c:v>
          </c:tx>
          <c:spPr>
            <a:solidFill>
              <a:srgbClr val="BBBBD9"/>
            </a:solidFill>
            <a:ln w="0">
              <a:noFill/>
            </a:ln>
          </c:spPr>
          <c:invertIfNegative val="1"/>
          <c:dPt>
            <c:idx val="0"/>
            <c:invertIfNegative val="0"/>
            <c:bubble3D val="0"/>
            <c:spPr>
              <a:solidFill>
                <a:srgbClr val="BBBBD9"/>
              </a:solidFill>
            </c:spPr>
            <c:extLst>
              <c:ext xmlns:c16="http://schemas.microsoft.com/office/drawing/2014/chart" uri="{C3380CC4-5D6E-409C-BE32-E72D297353CC}">
                <c16:uniqueId val="{00000001-762C-4C18-83C0-F7812EA51186}"/>
              </c:ext>
            </c:extLst>
          </c:dPt>
          <c:dPt>
            <c:idx val="1"/>
            <c:invertIfNegative val="0"/>
            <c:bubble3D val="0"/>
            <c:spPr>
              <a:solidFill>
                <a:srgbClr val="BBBBD9"/>
              </a:solidFill>
            </c:spPr>
            <c:extLst>
              <c:ext xmlns:c16="http://schemas.microsoft.com/office/drawing/2014/chart" uri="{C3380CC4-5D6E-409C-BE32-E72D297353CC}">
                <c16:uniqueId val="{00000003-762C-4C18-83C0-F7812EA51186}"/>
              </c:ext>
            </c:extLst>
          </c:dPt>
          <c:dPt>
            <c:idx val="2"/>
            <c:invertIfNegative val="0"/>
            <c:bubble3D val="0"/>
            <c:spPr>
              <a:solidFill>
                <a:srgbClr val="57528F"/>
              </a:solidFill>
            </c:spPr>
            <c:extLst>
              <c:ext xmlns:c16="http://schemas.microsoft.com/office/drawing/2014/chart" uri="{C3380CC4-5D6E-409C-BE32-E72D297353CC}">
                <c16:uniqueId val="{00000005-762C-4C18-83C0-F7812EA51186}"/>
              </c:ext>
            </c:extLst>
          </c:dPt>
          <c:dPt>
            <c:idx val="3"/>
            <c:invertIfNegative val="0"/>
            <c:bubble3D val="0"/>
            <c:spPr>
              <a:solidFill>
                <a:srgbClr val="BBBBD9"/>
              </a:solidFill>
            </c:spPr>
            <c:extLst>
              <c:ext xmlns:c16="http://schemas.microsoft.com/office/drawing/2014/chart" uri="{C3380CC4-5D6E-409C-BE32-E72D297353CC}">
                <c16:uniqueId val="{00000007-762C-4C18-83C0-F7812EA511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282743"/>
                    </a:solidFill>
                    <a:latin typeface="微软雅黑"/>
                    <a:ea typeface="微软雅黑"/>
                    <a:cs typeface="微软雅黑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上午
06至12时
5局</c:v>
                </c:pt>
                <c:pt idx="1">
                  <c:v>下午
12至18时
4局</c:v>
                </c:pt>
                <c:pt idx="2">
                  <c:v>晚间
18至22时
6局</c:v>
                </c:pt>
                <c:pt idx="3">
                  <c:v>夜间
22至06时
6局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38</c:v>
                </c:pt>
                <c:pt idx="1">
                  <c:v>44</c:v>
                </c:pt>
                <c:pt idx="2">
                  <c:v>31</c:v>
                </c:pt>
                <c:pt idx="3">
                  <c:v>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8-762C-4C18-83C0-F7812EA5118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zh-CN" altLang="en-US">
                    <a:latin typeface="微软雅黑"/>
                    <a:ea typeface="微软雅黑"/>
                    <a:cs typeface="微软雅黑"/>
                  </a:rPr>
                  <a:t>训练时段（本地时间）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79769A"/>
            </a:solidFill>
          </a:ln>
        </c:spPr>
        <c:txPr>
          <a:bodyPr anchorCtr="1"/>
          <a:lstStyle/>
          <a:p>
            <a:pPr>
              <a:defRPr sz="150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0"/>
          <c:min val="0"/>
        </c:scaling>
        <c:delete val="0"/>
        <c:axPos val="l"/>
        <c:majorGridlines>
          <c:spPr>
            <a:ln w="9525">
              <a:solidFill>
                <a:srgbClr val="E9E8F1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zh-CN" altLang="en-US">
                    <a:latin typeface="微软雅黑"/>
                    <a:ea typeface="微软雅黑"/>
                    <a:cs typeface="微软雅黑"/>
                  </a:rPr>
                  <a:t>完成用时（秒）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425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endParaRPr lang="zh-CN"/>
          </a:p>
        </c:txPr>
        <c:crossAx val="48650112"/>
        <c:crosses val="autoZero"/>
        <c:crossBetween val="between"/>
        <c:majorUnit val="10"/>
      </c:valAx>
      <c:spPr>
        <a:noFill/>
        <a:ln w="0">
          <a:noFill/>
        </a:ln>
      </c:spPr>
    </c:plotArea>
    <c:plotVisOnly val="1"/>
    <c:dispBlanksAs val="zero"/>
    <c:showDLblsOverMax val="1"/>
  </c:chart>
  <c:spPr>
    <a:noFill/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建议讲述时间：25秒</a:t>
            </a:r>
          </a:p>
          <a:p>
            <a:endParaRPr/>
          </a:p>
          <a:p>
            <a:r>
              <a:t>大家好，我们的产品叫易忆，是一款服务大脑的教育辅助应用。我们从一个常见场景出发：准备开始学习时，脑中还堆着很多未完成的事，既怕忘记，也不知道先做哪一件。易忆帮助用户把事项放到界面上，明确下一步，同时为练习保留可以回顾的记录。</a:t>
            </a:r>
          </a:p>
          <a:p>
            <a:endParaRPr/>
          </a:p>
          <a:p>
            <a:r>
              <a:t>资料来源（不朗读）：</a:t>
            </a:r>
          </a:p>
          <a:p>
            <a:r>
              <a:t>用户提供的模板与Logo</a:t>
            </a:r>
          </a:p>
          <a:p>
            <a:r>
              <a:t>https://jianwenjiuzhou.cloud/#today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建议讲述时间：25秒</a:t>
            </a:r>
          </a:p>
          <a:p>
            <a:endParaRPr dirty="0"/>
          </a:p>
          <a:p>
            <a:r>
              <a:rPr dirty="0"/>
              <a:t>我们关注的是一个日常问题：脑中装着许多杂事，注意力不断切换，明明知道有事要做，却很难开始。易忆因此提供两个模块。事项把待办记录下来、排清先后，减少记忆负担。训练提供短时视觉搜索练习，并保留记录和复盘，帮助用户逐步回到自己的安排。</a:t>
            </a:r>
          </a:p>
          <a:p>
            <a:endParaRPr dirty="0"/>
          </a:p>
          <a:p>
            <a:r>
              <a:rPr dirty="0" err="1"/>
              <a:t>资料来源（不朗读</a:t>
            </a:r>
            <a:r>
              <a:rPr dirty="0"/>
              <a:t>）：</a:t>
            </a:r>
          </a:p>
          <a:p>
            <a:r>
              <a:rPr dirty="0" err="1"/>
              <a:t>痛点与产品目标依据本轮用户批注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建议讲述时间：25秒</a:t>
            </a:r>
          </a:p>
          <a:p>
            <a:endParaRPr dirty="0"/>
          </a:p>
          <a:p>
            <a:r>
              <a:rPr dirty="0"/>
              <a:t>易忆围绕事项和训练两个核心板块展开。事项包含连续语音录入、多维排序，以及配合白噪音的冥想休息。训练包含经典方格和圆形变式，每局提供复盘。规划中的周报进一步汇总练习表现，关联已经录入的重要事项。用户既能整理当前安排，也能逐渐形成适合自己的学习节奏。</a:t>
            </a:r>
          </a:p>
          <a:p>
            <a:endParaRPr dirty="0"/>
          </a:p>
          <a:p>
            <a:r>
              <a:rPr dirty="0" err="1"/>
              <a:t>资料来源（不朗读</a:t>
            </a:r>
            <a:r>
              <a:rPr dirty="0"/>
              <a:t>）：</a:t>
            </a:r>
          </a:p>
          <a:p>
            <a:r>
              <a:rPr dirty="0"/>
              <a:t>https://github.com/alibizho/xihack</a:t>
            </a:r>
          </a:p>
          <a:p>
            <a:r>
              <a:rPr dirty="0" err="1"/>
              <a:t>白噪音完成状态依据用户确认，周报为规划扩展</a:t>
            </a:r>
            <a:r>
              <a:rPr dirty="0"/>
              <a:t>。</a:t>
            </a:r>
          </a:p>
          <a:p>
            <a:r>
              <a:rPr dirty="0" err="1"/>
              <a:t>配色采用靛蓝邻近的低饱和蓝灰与紫灰，以相同明度保持模块视觉权重均衡</a:t>
            </a:r>
            <a:r>
              <a:rPr dirty="0"/>
              <a:t>。</a:t>
            </a:r>
          </a:p>
          <a:p>
            <a:r>
              <a:rPr dirty="0"/>
              <a:t>https://www.adobe.com/creativecloud/design/hub/guides/sets-of-2-colors-that-go-great-together.html</a:t>
            </a:r>
          </a:p>
          <a:p>
            <a:r>
              <a:rPr dirty="0"/>
              <a:t>https://www.w3.org/WAI/WCAG22/Understanding/contrast-minimum.html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建议讲述时间：35秒</a:t>
            </a:r>
          </a:p>
          <a:p>
            <a:endParaRPr/>
          </a:p>
          <a:p>
            <a:r>
              <a:t>前端使用React和TypeScript，承担录音、点击计时与声音播放。Node.js、FastAPI和后台任务处理业务，PostgreSQL保存事项与训练摘要。浏览器语音识别及服务端回退配合MiMo帮助理解事项、生成复盘。统计规则提供可核对的依据，AI负责解释。涉及评分修改或事项安排时，系统保留用户确认。</a:t>
            </a:r>
          </a:p>
          <a:p>
            <a:endParaRPr/>
          </a:p>
          <a:p>
            <a:r>
              <a:t>资料来源（不朗读）：</a:t>
            </a:r>
          </a:p>
          <a:p>
            <a:r>
              <a:t>https://github.com/alibizho/xihack/blob/main/deploy/compose.yaml</a:t>
            </a:r>
          </a:p>
          <a:p>
            <a:r>
              <a:t>https://github.com/alibizho/xihack/blob/main/frontend/package.json</a:t>
            </a:r>
          </a:p>
          <a:p>
            <a:r>
              <a:t>https://github.com/alibizho/xihack/blob/main/backend/src/assistant_backend/application/speech.py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建议讲述时间：30秒</a:t>
            </a:r>
          </a:p>
          <a:p>
            <a:endParaRPr/>
          </a:p>
          <a:p>
            <a:r>
              <a:t>打开易忆，屏幕中央就是语音入口。用户可以连续说出完成PPT、阅读文献、遛狗和买猫粮等事项，AI帮助拆分，再展示确认结果。用户也可以直接打字，或手动补充。确认后，事项进入日程。这个流程让用户把脑中暂存的事情一次说出来，不必先逐条整理成固定格式。</a:t>
            </a:r>
          </a:p>
          <a:p>
            <a:endParaRPr/>
          </a:p>
          <a:p>
            <a:r>
              <a:t>资料来源（不朗读）：</a:t>
            </a:r>
          </a:p>
          <a:p>
            <a:r>
              <a:t>移动端截图：1-1.jpg、1-2.jpg、3-1.jpg，来自用户提供的ppt figs文件夹</a:t>
            </a:r>
          </a:p>
          <a:p>
            <a:r>
              <a:t>https://jianwenjiuzhou.cloud/#today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建议讲述时间：30秒</a:t>
            </a:r>
          </a:p>
          <a:p>
            <a:endParaRPr/>
          </a:p>
          <a:p>
            <a:r>
              <a:t>事项页面提供卡牌、四象限和日程视图。重要度与紧急度分别从零到十评分，保留一位小数，AI可以辅助判断，用户仍能自行调整。临近截止的事和长期重要的事因此能够分开安排。需要休息时，用户设置冥想时长，选择雨声或海浪白噪音，在同一产品中完成一段定时休息。</a:t>
            </a:r>
          </a:p>
          <a:p>
            <a:endParaRPr/>
          </a:p>
          <a:p>
            <a:r>
              <a:t>资料来源（不朗读）：</a:t>
            </a:r>
          </a:p>
          <a:p>
            <a:r>
              <a:t>移动端截图：3-2.jpg、3-3.jpg、2-1.jpg，来自用户提供的ppt figs文件夹</a:t>
            </a:r>
          </a:p>
          <a:p>
            <a:r>
              <a:t>白噪音按本轮用户确认视为已完成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建议讲述时间：30秒</a:t>
            </a:r>
          </a:p>
          <a:p>
            <a:endParaRPr/>
          </a:p>
          <a:p>
            <a:r>
              <a:t>训练提供经典五乘五方格和圆形变式。用户按顺序点击数字，选择适合自己的难度。系统记录完成用时、正确点击间隔，以及误触后的恢复时间。圆形变式增加不同的视觉搜索条件，因此成绩按玩法和难度分别比较。用户可以继续训练，也可以转到事项页面添加接下来要做的事。</a:t>
            </a:r>
          </a:p>
          <a:p>
            <a:endParaRPr/>
          </a:p>
          <a:p>
            <a:r>
              <a:t>资料来源（不朗读）：</a:t>
            </a:r>
          </a:p>
          <a:p>
            <a:r>
              <a:t>移动端截图：4-1.jpg、4-2.jpg、4-3.jpg，来自用户提供的ppt figs文件夹</a:t>
            </a:r>
          </a:p>
          <a:p>
            <a:r>
              <a:t>圆形界面按现有截图展示，中心无数字，按点击触发圈层转动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建议讲述时间：30秒</a:t>
            </a:r>
          </a:p>
          <a:p>
            <a:endParaRPr/>
          </a:p>
          <a:p>
            <a:r>
              <a:t>每局结束后，复盘把成绩解释得更具体。用户可以看到平均节奏、最慢的数字过渡，以及误触发生在哪一段。截图中，十九到二十用了五点八秒，单步平均为二点三秒，因此这一段值得留意。反馈聚焦本局有记录支持的现象，并给出下一次可以尝试的小调整，让用户知道改进的方向。</a:t>
            </a:r>
          </a:p>
          <a:p>
            <a:endParaRPr/>
          </a:p>
          <a:p>
            <a:r>
              <a:t>资料来源（不朗读）：</a:t>
            </a:r>
          </a:p>
          <a:p>
            <a:r>
              <a:t>移动端截图：4-4.jpg、4-5.jpg，来自用户提供的ppt figs文件夹</a:t>
            </a:r>
          </a:p>
          <a:p>
            <a:r>
              <a:t>右侧图表数值直接取自4-5.jpg，单位秒。建议为依据截图的概括，不是认知能力测评。</a:t>
            </a:r>
          </a:p>
          <a:p>
            <a:r>
              <a:t>https://github.com/alibizho/xihack/blob/main/frontend/server/trainingReviewAgent.ts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建议讲述时间：40秒</a:t>
            </a:r>
          </a:p>
          <a:p>
            <a:endParaRPr dirty="0"/>
          </a:p>
          <a:p>
            <a:r>
              <a:rPr dirty="0"/>
              <a:t>周报统计近七天同玩法、同难度和同设备条件下的训练。这里是示例数据，柱形表示时段平均用时，小点表示每一局，便于同时看到整体节奏和波动。假如晚间表现相对更快，且日程允许，可以建议在空闲晚间安排已经录入的阅读十篇文献。建议还会参考误触、样本量和截止时间，最终由用户决定。</a:t>
            </a:r>
          </a:p>
          <a:p>
            <a:endParaRPr dirty="0"/>
          </a:p>
          <a:p>
            <a:r>
              <a:rPr dirty="0" err="1"/>
              <a:t>资料来源（不朗读</a:t>
            </a:r>
            <a:r>
              <a:rPr dirty="0"/>
              <a:t>）：</a:t>
            </a:r>
          </a:p>
          <a:p>
            <a:r>
              <a:rPr dirty="0"/>
              <a:t>周报为规划扩展。示例条件：经典5×5、普通难度、手机触控。</a:t>
            </a:r>
          </a:p>
          <a:p>
            <a:r>
              <a:rPr dirty="0" err="1"/>
              <a:t>数据来源：已提供的易忆周报示意图</a:t>
            </a:r>
            <a:r>
              <a:rPr dirty="0"/>
              <a:t>。</a:t>
            </a:r>
          </a:p>
          <a:p>
            <a:r>
              <a:rPr dirty="0"/>
              <a:t>上午39、37、38、40、36，均值38，5局。下午45、43、44、44，均值44，4局。晚间30、32、31、33、29、31，均值31，6局。夜间36、34、35、37、33、35，均值35，6局。</a:t>
            </a:r>
          </a:p>
          <a:p>
            <a:r>
              <a:rPr dirty="0"/>
              <a:t>阅读10篇文献来自用户提供3-2.jpg。安排建议须满足空闲与截止约束。</a:t>
            </a:r>
          </a:p>
          <a:p>
            <a:r>
              <a:rPr dirty="0"/>
              <a:t>https://github.com/alibizho/xihack/blob/main/backend/src/assistant_backend/application/training.py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建议讲述时间：30秒</a:t>
            </a:r>
          </a:p>
          <a:p>
            <a:endParaRPr/>
          </a:p>
          <a:p>
            <a:r>
              <a:t>易忆的独特性，是把用户的注意力当作需要保护的资源。事项帮助减少脑中的记忆负担，训练提供可记录、可复盘的专注练习。商业上，可以探索长期报告与个性化反馈订阅，以及教育场景的合作试点。我们希望用户为实际得到的帮助付费，以行动完成和用户反馈验证价值，而不依靠延长停留时间盈利。</a:t>
            </a:r>
          </a:p>
          <a:p>
            <a:endParaRPr/>
          </a:p>
          <a:p>
            <a:r>
              <a:t>资料来源（不朗读）：</a:t>
            </a:r>
          </a:p>
          <a:p>
            <a:r>
              <a:t>产品价值和商业设计原则依据本轮用户批注。订阅与教育合作为潜在路径，不代表已产生收入。</a:t>
            </a:r>
          </a:p>
          <a:p>
            <a:r>
              <a:t>训练提供视觉搜索练习，尚不把其表述为已经验证的广义注意力提升或医疗干预。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38DE4-08DC-4D35-83F2-77C851B71C3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 b="1" i="0" spc="300" baseline="0"/>
            </a:lvl1pPr>
          </a:lstStyle>
          <a:p>
            <a:r>
              <a:t>单击此处编辑标题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F23809-2052-462A-8FCB-6C8FC9247DF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u="none" strike="noStrike" kern="1200" cap="none" spc="2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单击此处编辑副标题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3C8020B5-2EA8-4D16-8CA9-FCE9050529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F472B195-3F63-4BC4-A2E9-DA09E9D641C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AD536754-E9EA-4A42-92E0-EA0FFD4773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703A9-24D2-4638-B167-819906B7C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>
            <a:lvl1pPr marL="0" marR="0" algn="l" defTabSz="914400">
              <a:lnSpc>
                <a:spcPct val="100000"/>
              </a:lnSpc>
              <a:buNone/>
              <a:defRPr sz="3600" b="1" i="0" u="none" strike="noStrike" kern="1200" cap="none" spc="300" baseline="0"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4B885E-DE87-4CC3-BBED-A95662388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>
            <a:lvl1pPr marL="228600" marR="0" indent="-228600" algn="l" defTabSz="914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800" b="0" i="0" u="none" strike="noStrike" kern="1200" cap="none" spc="150" baseline="0">
                <a:latin typeface="Arial"/>
                <a:ea typeface="Arial"/>
                <a:cs typeface="Arial"/>
              </a:defRPr>
            </a:lvl1pPr>
            <a:lvl2pPr marL="6858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609725" algn="l"/>
              </a:tabLst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2pPr>
            <a:lvl3pPr marL="11430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3pPr>
            <a:lvl4pPr marL="16002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 u="none" strike="noStrike" kern="1200" cap="none" spc="150" baseline="0">
                <a:latin typeface="Arial"/>
                <a:ea typeface="Arial"/>
                <a:cs typeface="Arial"/>
              </a:defRPr>
            </a:lvl4pPr>
            <a:lvl5pPr marL="20574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 u="none" strike="noStrike" kern="1200" cap="none" spc="150" baseline="0">
                <a:latin typeface="Arial"/>
                <a:ea typeface="Arial"/>
                <a:cs typeface="Arial"/>
              </a:defRPr>
            </a:lvl5pPr>
            <a:lvl6pPr marL="2286000" indent="0">
              <a:buNone/>
              <a:defRPr/>
            </a:lvl6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0CD847-CAFE-4FAE-937B-C5F97E9F5D0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112A7B-AC02-4F05-8D48-F687801F804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30B188-34FD-418C-BAAE-64F2AC71B05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820B3E-6C59-4FFC-9718-A64BFFB00E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 b="1" i="0" u="none" strike="noStrike" kern="1200" cap="none" spc="300" baseline="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575485-F25E-408E-9802-DC1D9CCE923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lnSpc>
                <a:spcPct val="130000"/>
              </a:lnSpc>
              <a:buNone/>
              <a:defRPr sz="1800" b="0" i="0" u="none" strike="noStrike" kern="1200" cap="none" spc="15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9C0CD7-F1FA-4643-BD0F-0B552787AB1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242A06-C33C-4007-B1B1-A1690022B2C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6164E1-A74B-40CA-B266-774434F054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605AD0-DC13-4D1A-8453-748DF2897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>
            <a:lvl1pPr marL="0" marR="0" algn="l" defTabSz="914400">
              <a:lnSpc>
                <a:spcPct val="100000"/>
              </a:lnSpc>
              <a:buNone/>
              <a:defRPr sz="3600" b="1" i="0" u="none" strike="noStrike" kern="1200" cap="none" spc="300" baseline="0"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7E43F5-340B-4704-BFE4-1F4F50253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>
            <a:lvl1pPr marL="228600" marR="0" indent="-228600" algn="l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1pPr>
            <a:lvl2pPr marL="6858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609725" algn="l"/>
              </a:tabLst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2pPr>
            <a:lvl3pPr marL="11430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3pPr>
            <a:lvl4pPr marL="16002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 u="none" strike="noStrike" kern="1200" cap="none" spc="150" baseline="0">
                <a:latin typeface="Arial"/>
                <a:ea typeface="Arial"/>
                <a:cs typeface="Arial"/>
              </a:defRPr>
            </a:lvl4pPr>
            <a:lvl5pPr marL="20574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 u="none" strike="noStrike" kern="1200" cap="none" spc="150" baseline="0"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317210A-F0AB-4B22-BF0A-E4275A4F0D3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spcAft>
                <a:spcPts val="600"/>
              </a:spcAft>
              <a:buNone/>
              <a:defRPr sz="1600" u="none" strike="noStrike" kern="1200" cap="none" spc="150" baseline="0">
                <a:latin typeface="Arial"/>
                <a:ea typeface="Arial"/>
                <a:cs typeface="Arial"/>
              </a:defRPr>
            </a:lvl1pPr>
            <a:lvl2pPr marL="685800" indent="-228600" defTabSz="914400">
              <a:lnSpc>
                <a:spcPct val="120000"/>
              </a:lnSpc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baseline="0">
                <a:latin typeface="Arial"/>
                <a:ea typeface="Arial"/>
                <a:cs typeface="Arial"/>
              </a:defRPr>
            </a:lvl2pPr>
            <a:lvl3pPr marL="1143000" indent="-228600">
              <a:lnSpc>
                <a:spcPct val="120000"/>
              </a:lnSpc>
              <a:buNone/>
              <a:defRPr sz="1600" u="none" strike="noStrike" kern="1200" cap="none" spc="150" baseline="0">
                <a:latin typeface="Arial"/>
                <a:ea typeface="Arial"/>
                <a:cs typeface="Arial"/>
              </a:defRPr>
            </a:lvl3pPr>
            <a:lvl4pPr marL="1600200" indent="-228600">
              <a:lnSpc>
                <a:spcPct val="120000"/>
              </a:lnSpc>
              <a:buNone/>
              <a:defRPr sz="1400" u="none" strike="noStrike" kern="1200" cap="none" spc="150" baseline="0">
                <a:latin typeface="Arial"/>
                <a:ea typeface="Arial"/>
                <a:cs typeface="Arial"/>
              </a:defRPr>
            </a:lvl4pPr>
            <a:lvl5pPr>
              <a:lnSpc>
                <a:spcPct val="120000"/>
              </a:lnSpc>
              <a:buNone/>
              <a:defRPr sz="1400" u="none" strike="noStrike" kern="1200" cap="none" spc="150"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89DCDF-F22B-4DF5-9F43-D4A0ABAFF51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68D702E-E7D6-4A08-9675-A2DD81564FD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8A08C1-AF01-49F6-B2F1-7F50BA5AA3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5EEB89-C128-405A-AC2A-A740C6073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>
            <a:lvl1pPr marL="0" marR="0" algn="l" defTabSz="914400">
              <a:lnSpc>
                <a:spcPct val="100000"/>
              </a:lnSpc>
              <a:buNone/>
              <a:defRPr sz="3600" b="1" i="0" u="none" strike="noStrike" kern="1200" cap="none" spc="300" baseline="0"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CABFB9-8363-4784-93C0-9F8D8CB5C65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A433D8C-AED6-479E-840D-005FB0654B1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>
            <a:lvl1pPr marL="228600" marR="0" indent="-228600" algn="l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1pPr>
            <a:lvl2pPr marL="6858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609725" algn="l"/>
              </a:tabLst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2pPr>
            <a:lvl3pPr marL="11430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3pPr>
            <a:lvl4pPr marL="16002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 u="none" strike="noStrike" kern="1200" cap="none" spc="150" baseline="0">
                <a:latin typeface="Arial"/>
                <a:ea typeface="Arial"/>
                <a:cs typeface="Arial"/>
              </a:defRPr>
            </a:lvl4pPr>
            <a:lvl5pPr marL="20574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 u="none" strike="noStrike" kern="1200" cap="none" spc="150" baseline="0"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5DA7BA7-5472-4187-8CDD-F163A91586F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1" i="0" u="none" strike="noStrike" kern="1200" cap="none" spc="200" baseline="0">
                <a:latin typeface="Arial"/>
                <a:ea typeface="Arial"/>
                <a:cs typeface="Arial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AD8A72-C4C8-4FF7-B043-64E95E67A876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>
            <a:lvl1pPr marL="228600" marR="0" indent="-228600" algn="l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1pPr>
            <a:lvl2pPr marL="6858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609725" algn="l"/>
              </a:tabLst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2pPr>
            <a:lvl3pPr marL="11430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None/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3pPr>
            <a:lvl4pPr marL="16002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 u="none" strike="noStrike" kern="1200" cap="none" spc="150" baseline="0">
                <a:latin typeface="Arial"/>
                <a:ea typeface="Arial"/>
                <a:cs typeface="Arial"/>
              </a:defRPr>
            </a:lvl4pPr>
            <a:lvl5pPr marL="2057400" marR="0" indent="-228600" algn="l" defTabSz="914400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None/>
              <a:defRPr sz="1400" b="0" i="0" u="none" strike="noStrike" kern="1200" cap="none" spc="150" baseline="0"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D0186E-0B1C-477D-A5EB-E0C813884F8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C8DA070-A97D-413C-97A9-66A5024FC77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FE3ECC-FA27-49FF-A834-3E76C3D9CCA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492BA8-F964-43F9-B683-6B1802B94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>
            <a:lvl1pPr marL="0" marR="0" algn="l" defTabSz="914400">
              <a:lnSpc>
                <a:spcPct val="100000"/>
              </a:lnSpc>
              <a:buNone/>
              <a:defRPr sz="3600" b="1" i="0" u="none" strike="noStrike" kern="1200" cap="none" spc="300" baseline="0"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8F1C523-AA94-4E6A-A827-45E40F1426E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247925-FB53-42F5-894A-CE2078B758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B90FEE-8420-4F30-A065-63C529E1A4D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9039AA5-CCA8-4049-B8DA-7D38A70FF01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7D4DBBD-5BA7-4497-AC0F-5D0165C11EC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5EBB910-20DF-46C5-A370-5D125390C3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27A73C8-920A-42E5-8A75-D185A1E75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 marL="0" marR="0" indent="0" algn="l" defTabSz="914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/>
              <a:buNone/>
              <a:defRPr sz="1600" b="0" i="0" u="none" strike="noStrike" kern="1200" cap="none" spc="0" baseline="0">
                <a:latin typeface="Arial"/>
                <a:ea typeface="Arial"/>
                <a:cs typeface="Arial"/>
              </a:defRPr>
            </a:lvl1pPr>
            <a:lvl2pPr marL="685800" marR="0" indent="-228600" algn="l" defTabSz="914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tabLst>
                <a:tab pos="1609725" algn="l"/>
              </a:tabLst>
              <a:defRPr sz="1600" b="0" i="0" u="none" strike="noStrike" kern="1200" cap="none" spc="150" baseline="0">
                <a:latin typeface="+mn-lt"/>
                <a:ea typeface="+mn-lt"/>
                <a:cs typeface="+mn-lt"/>
              </a:defRPr>
            </a:lvl2pPr>
            <a:lvl3pPr marL="1143000" marR="0" indent="-228600" algn="l" defTabSz="914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600" b="0" i="0" u="none" strike="noStrike" kern="1200" cap="none" spc="150" baseline="0">
                <a:latin typeface="+mn-lt"/>
                <a:ea typeface="+mn-lt"/>
                <a:cs typeface="+mn-lt"/>
              </a:defRPr>
            </a:lvl3pPr>
            <a:lvl4pPr marL="1600200" marR="0" indent="-228600" algn="l" defTabSz="914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600" b="0" i="0" u="none" strike="noStrike" kern="1200" cap="none" spc="150" baseline="0">
                <a:latin typeface="+mn-lt"/>
                <a:ea typeface="+mn-lt"/>
                <a:cs typeface="+mn-lt"/>
              </a:defRPr>
            </a:lvl4pPr>
            <a:lvl5pPr marL="2057400" marR="0" indent="-228600" algn="l" defTabSz="91440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  <a:defRPr sz="1600" b="0" i="0" u="none" strike="noStrike" kern="1200" cap="none" spc="150" baseline="0">
                <a:latin typeface="+mn-lt"/>
                <a:ea typeface="+mn-lt"/>
                <a:cs typeface="+mn-lt"/>
              </a:defRPr>
            </a:lvl5pPr>
          </a:lstStyle>
          <a:p>
            <a:pPr lvl="0"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9C2BE7-2A1C-43B6-AAF1-1C1488C1DA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 marL="0" marR="0" indent="0" algn="l" defTabSz="914400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/>
              <a:buNone/>
              <a:defRPr sz="1600" b="0" i="0" u="none" strike="noStrike" kern="1200" cap="none" spc="150" baseline="0">
                <a:latin typeface="Arial"/>
                <a:ea typeface="Arial"/>
                <a:cs typeface="Arial"/>
              </a:defRPr>
            </a:lvl1pPr>
            <a:lvl2pPr marL="457200" indent="0" defTabSz="914400">
              <a:buFont typeface="Arial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>
                <a:latin typeface="Arial"/>
                <a:ea typeface="Arial"/>
                <a:cs typeface="Arial"/>
              </a:defRPr>
            </a:lvl2pPr>
            <a:lvl3pPr>
              <a:buFont typeface="Arial"/>
              <a:buChar char="●"/>
              <a:defRPr u="none" strike="noStrike" kern="1200" cap="none" spc="150">
                <a:latin typeface="Arial"/>
                <a:ea typeface="Arial"/>
                <a:cs typeface="Arial"/>
              </a:defRPr>
            </a:lvl3pPr>
            <a:lvl4pPr>
              <a:buNone/>
              <a:defRPr u="none" strike="noStrike" kern="1200" cap="none" spc="150">
                <a:latin typeface="Arial"/>
                <a:ea typeface="Arial"/>
                <a:cs typeface="Arial"/>
              </a:defRPr>
            </a:lvl4pPr>
            <a:lvl5pPr>
              <a:buNone/>
              <a:defRPr u="none" strike="noStrike" kern="1200" cap="none" spc="150">
                <a:latin typeface="Arial"/>
                <a:ea typeface="Arial"/>
                <a:cs typeface="Arial"/>
              </a:defRPr>
            </a:lvl5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0F54F1-E239-405A-BA87-93DB75976BA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2026/10/4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53A9CB-F4FD-4E53-B148-73BA1FA4B5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096343D-B338-48ED-AD8D-2CE7C428AC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7A454C67-5FA6-4A52-91BB-403186A97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buNone/>
              <a:defRPr baseline="0"/>
            </a:lvl1pPr>
          </a:lstStyle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2DDC0BA-48DD-41A3-B3F8-BDB8A43453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 marL="0" marR="0" algn="l" defTabSz="914400">
              <a:lnSpc>
                <a:spcPct val="100000"/>
              </a:lnSpc>
              <a:spcAft>
                <a:spcPts val="0"/>
              </a:spcAft>
              <a:buNone/>
              <a:defRPr sz="2800" b="1" i="0" u="none" strike="noStrike" kern="1200" cap="none" spc="300" baseline="0"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5FAB3A-0B30-4415-8889-FDCDB3271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lnSpc>
                <a:spcPct val="130000"/>
              </a:lnSpc>
              <a:spcAft>
                <a:spcPts val="1000"/>
              </a:spcAft>
              <a:buNone/>
              <a:defRPr u="none" strike="noStrike" kern="1200" cap="none" spc="150" baseline="0"/>
            </a:lvl1pPr>
            <a:lvl2pPr marL="685800" indent="-228600" defTabSz="914400">
              <a:lnSpc>
                <a:spcPct val="120000"/>
              </a:lnSpc>
              <a:spcAft>
                <a:spcPts val="600"/>
              </a:spcAft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baseline="0"/>
            </a:lvl2pPr>
            <a:lvl3pPr marL="1143000" indent="-228600">
              <a:lnSpc>
                <a:spcPct val="120000"/>
              </a:lnSpc>
              <a:spcAft>
                <a:spcPts val="600"/>
              </a:spcAft>
              <a:buNone/>
              <a:defRPr u="none" strike="noStrike" kern="1200" cap="none" spc="150" baseline="0"/>
            </a:lvl3pPr>
            <a:lvl4pPr marL="1600200" indent="-228600">
              <a:lnSpc>
                <a:spcPct val="120000"/>
              </a:lnSpc>
              <a:spcAft>
                <a:spcPts val="300"/>
              </a:spcAft>
              <a:buNone/>
              <a:defRPr u="none" strike="noStrike" kern="1200" cap="none" spc="150" baseline="0"/>
            </a:lvl4pPr>
            <a:lvl5pPr marL="2057400" indent="-228600">
              <a:lnSpc>
                <a:spcPct val="120000"/>
              </a:lnSpc>
              <a:spcAft>
                <a:spcPts val="300"/>
              </a:spcAft>
              <a:buNone/>
              <a:defRPr u="none" strike="noStrike" kern="1200" cap="none" spc="150" baseline="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74703A-3AF6-4C06-8434-589A4C55AEA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7DD4FD-F59A-403E-A82B-34BB3895686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85729D-F63C-415E-B5FB-8056C5DDAF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3D2E2-5C8F-4B35-AEFF-18B478F955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B21D29-53D3-40DB-AF9E-AE3F7854F39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C80BD5A-F878-4EE4-9897-AFDBE9456F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C78DE6B-0B38-4878-A416-05D96015BED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None/>
              <a:defRPr u="none" strike="noStrike" kern="1200" cap="none" spc="150" baseline="0"/>
            </a:lvl1pPr>
            <a:lvl2pPr marL="685800" indent="-228600" defTabSz="914400">
              <a:lnSpc>
                <a:spcPct val="120000"/>
              </a:lnSpc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baseline="0"/>
            </a:lvl2pPr>
            <a:lvl3pPr marL="1143000" indent="-228600">
              <a:lnSpc>
                <a:spcPct val="120000"/>
              </a:lnSpc>
              <a:buNone/>
              <a:defRPr u="none" strike="noStrike" kern="1200" cap="none" spc="150" baseline="0"/>
            </a:lvl3pPr>
            <a:lvl4pPr marL="1600200" indent="-228600">
              <a:lnSpc>
                <a:spcPct val="120000"/>
              </a:lnSpc>
              <a:buNone/>
              <a:defRPr u="none" strike="noStrike" kern="1200" cap="none" spc="150" baseline="0"/>
            </a:lvl4pPr>
            <a:lvl5pPr marL="2057400" indent="-228600">
              <a:lnSpc>
                <a:spcPct val="120000"/>
              </a:lnSpc>
              <a:buNone/>
              <a:defRPr u="none" strike="noStrike" kern="1200" cap="none" spc="150" baseline="0"/>
            </a:lvl5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7FEE694-7CD5-4770-B35E-96502CF03A8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DD7E247-FCE9-4F9A-821B-D45077B661D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56BD83D-DC18-4047-982B-20722A137A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04F6B4C-E6B0-474A-A64B-C6BC2A4DB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marL="0" marR="0" algn="ctr" defTabSz="914400">
              <a:lnSpc>
                <a:spcPct val="100000"/>
              </a:lnSpc>
              <a:buNone/>
              <a:defRPr sz="6000" b="1" i="0" u="none" strike="noStrike" kern="1200" cap="none" spc="300" baseline="0">
                <a:latin typeface="Arial"/>
                <a:ea typeface="Arial"/>
                <a:cs typeface="Arial"/>
              </a:defRPr>
            </a:lvl1pPr>
          </a:lstStyle>
          <a:p>
            <a:pPr lvl="0"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E22C590F-CDEF-4D2C-813A-0D5D5C66A57C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/>
            </a:lvl1pPr>
          </a:lstStyle>
          <a:p>
            <a:pPr lvl="0"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11EB84E-8469-4AF2-8677-048C5A2AE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7E1278-94D9-445D-9B5C-C325DB9D9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第二级</a:t>
            </a:r>
          </a:p>
          <a:p>
            <a:pPr lvl="2">
              <a:buNone/>
            </a:pPr>
            <a:r>
              <a:t>第三级</a:t>
            </a:r>
          </a:p>
          <a:p>
            <a:pPr lvl="3">
              <a:buNone/>
            </a:pPr>
            <a:r>
              <a:t>第四级</a:t>
            </a:r>
          </a:p>
          <a:p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6DD68E-0B53-4449-B16D-FA1D11136C4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760FBDFE-C587-4B4C-A407-44438C67B59E}" type="datetimeFigureOut">
              <a:t>2026/10/4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5F0509-2504-449D-94FD-CF87129C1948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14903-526F-43D6-B5AF-9DAE841A2F99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 baseline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100000"/>
        </a:lnSpc>
        <a:spcBef>
          <a:spcPct val="0"/>
        </a:spcBef>
        <a:buNone/>
        <a:defRPr sz="3600" b="1" u="none" strike="noStrike" kern="1200" cap="none" spc="300" baseline="0">
          <a:solidFill>
            <a:schemeClr val="tx1">
              <a:lumMod val="85000"/>
              <a:lumOff val="15000"/>
            </a:schemeClr>
          </a:solidFill>
          <a:latin typeface="Arial"/>
          <a:ea typeface="Arial"/>
          <a:cs typeface="Arial"/>
        </a:defRPr>
      </a:lvl1pPr>
    </p:titleStyle>
    <p:bodyStyle>
      <a:lvl1pPr marL="228600" indent="-228600" algn="l" defTabSz="914400">
        <a:lnSpc>
          <a:spcPct val="130000"/>
        </a:lnSpc>
        <a:spcBef>
          <a:spcPts val="0"/>
        </a:spcBef>
        <a:spcAft>
          <a:spcPts val="1000"/>
        </a:spcAft>
        <a:buFont typeface="Arial"/>
        <a:buChar char="●"/>
        <a:defRPr sz="18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Arial"/>
          <a:ea typeface="Arial"/>
          <a:cs typeface="Arial"/>
        </a:defRPr>
      </a:lvl1pPr>
      <a:lvl2pPr marL="6858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Arial"/>
          <a:ea typeface="Arial"/>
          <a:cs typeface="Arial"/>
        </a:defRPr>
      </a:lvl2pPr>
      <a:lvl3pPr marL="1143000" indent="-228600" algn="l" defTabSz="914400">
        <a:lnSpc>
          <a:spcPct val="120000"/>
        </a:lnSpc>
        <a:spcBef>
          <a:spcPts val="0"/>
        </a:spcBef>
        <a:spcAft>
          <a:spcPts val="600"/>
        </a:spcAft>
        <a:buFont typeface="Arial"/>
        <a:buChar char="●"/>
        <a:defRPr sz="16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Arial"/>
          <a:ea typeface="Arial"/>
          <a:cs typeface="Arial"/>
        </a:defRPr>
      </a:lvl3pPr>
      <a:lvl4pPr marL="16002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Wingdings"/>
        <a:buChar char="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Arial"/>
          <a:ea typeface="Arial"/>
          <a:cs typeface="Arial"/>
        </a:defRPr>
      </a:lvl4pPr>
      <a:lvl5pPr marL="2057400" indent="-228600" algn="l" defTabSz="914400">
        <a:lnSpc>
          <a:spcPct val="120000"/>
        </a:lnSpc>
        <a:spcBef>
          <a:spcPts val="0"/>
        </a:spcBef>
        <a:spcAft>
          <a:spcPts val="300"/>
        </a:spcAft>
        <a:buFont typeface="Arial"/>
        <a:buChar char="•"/>
        <a:defRPr sz="1400" u="none" strike="noStrike" kern="1200" cap="none" spc="150" baseline="0">
          <a:solidFill>
            <a:schemeClr val="tx1">
              <a:lumMod val="65000"/>
              <a:lumOff val="35000"/>
            </a:schemeClr>
          </a:solidFill>
          <a:latin typeface="Arial"/>
          <a:ea typeface="Arial"/>
          <a:cs typeface="Arial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58F8DB82-AAC6-4066-81C3-5265A2C8B891}"/>
              </a:ext>
            </a:extLst>
          </p:cNvPr>
          <p:cNvSpPr>
            <a:spLocks noGrp="1"/>
          </p:cNvSpPr>
          <p:nvPr/>
        </p:nvSpPr>
        <p:spPr>
          <a:xfrm>
            <a:off x="1365885" y="1435257"/>
            <a:ext cx="2084451" cy="1097280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defPPr algn="l">
              <a:defRPr sz="6000" b="1">
                <a:solidFill>
                  <a:srgbClr val="494580"/>
                </a:solidFill>
                <a:latin typeface="微软雅黑"/>
                <a:ea typeface="微软雅黑"/>
                <a:cs typeface="微软雅黑"/>
              </a:defRPr>
            </a:defPPr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10000"/>
              </a:lnSpc>
              <a:buNone/>
              <a:defRPr sz="6000" b="1">
                <a:solidFill>
                  <a:srgbClr val="494580"/>
                </a:solidFill>
                <a:latin typeface="微软雅黑"/>
                <a:ea typeface="微软雅黑"/>
                <a:cs typeface="微软雅黑"/>
              </a:defRPr>
            </a:pPr>
            <a:r>
              <a:rPr sz="6000" b="1" dirty="0" err="1">
                <a:solidFill>
                  <a:srgbClr val="494580"/>
                </a:solidFill>
                <a:latin typeface="微软雅黑"/>
                <a:ea typeface="微软雅黑"/>
                <a:cs typeface="微软雅黑"/>
              </a:rPr>
              <a:t>易忆</a:t>
            </a:r>
            <a:endParaRPr sz="4800" b="1" dirty="0">
              <a:solidFill>
                <a:srgbClr val="0070C0"/>
              </a:solidFill>
              <a:latin typeface="字魂创粗黑"/>
              <a:ea typeface="字魂创粗黑"/>
              <a:cs typeface="字魂创粗黑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D04715E-8967-C3D4-1555-38927B0BD1DC}"/>
              </a:ext>
            </a:extLst>
          </p:cNvPr>
          <p:cNvSpPr>
            <a:spLocks noGrp="1"/>
          </p:cNvSpPr>
          <p:nvPr/>
        </p:nvSpPr>
        <p:spPr>
          <a:xfrm>
            <a:off x="860678" y="5200978"/>
            <a:ext cx="6734937" cy="944223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l">
              <a:defRPr sz="2250" b="1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250" b="1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250" b="1" dirty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队长：</a:t>
            </a:r>
            <a:r>
              <a:rPr lang="zh-CN" altLang="en-US" sz="2250" b="1" dirty="0"/>
              <a:t>谷松旭</a:t>
            </a:r>
            <a:endParaRPr lang="en-US" altLang="zh-CN" sz="2250" b="1" dirty="0">
              <a:solidFill>
                <a:srgbClr val="282743"/>
              </a:solidFill>
              <a:latin typeface="微软雅黑"/>
              <a:ea typeface="微软雅黑"/>
              <a:cs typeface="微软雅黑"/>
            </a:endParaRPr>
          </a:p>
          <a:p>
            <a:pPr>
              <a:defRPr sz="2250" b="1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2250" b="1" dirty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成员：</a:t>
            </a:r>
            <a:r>
              <a:rPr lang="en-US" altLang="zh-CN" sz="2250" b="1" dirty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Alibi </a:t>
            </a:r>
            <a:r>
              <a:rPr lang="en-GB" altLang="zh-CN" sz="2250" b="1" dirty="0"/>
              <a:t>Zhomart</a:t>
            </a:r>
            <a:r>
              <a:rPr lang="zh-CN" altLang="en-US" sz="2250" b="1" dirty="0"/>
              <a:t>，谢梁栖玉，邓武轩，曹楠</a:t>
            </a:r>
            <a:endParaRPr sz="2250" b="1" dirty="0">
              <a:solidFill>
                <a:srgbClr val="282743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定位">
            <a:extLst>
              <a:ext uri="{FF2B5EF4-FFF2-40B4-BE49-F238E27FC236}">
                <a16:creationId xmlns:a16="http://schemas.microsoft.com/office/drawing/2014/main" id="{F0424D33-B898-44E1-B090-59E96CE1F09F}"/>
              </a:ext>
            </a:extLst>
          </p:cNvPr>
          <p:cNvSpPr>
            <a:spLocks noGrp="1"/>
          </p:cNvSpPr>
          <p:nvPr/>
        </p:nvSpPr>
        <p:spPr>
          <a:xfrm>
            <a:off x="1341501" y="2781300"/>
            <a:ext cx="5715000" cy="647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l">
              <a:buNone/>
              <a:defRPr sz="2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 dirty="0" err="1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服务大脑的教育辅助应用</a:t>
            </a:r>
            <a:endParaRPr sz="2800" b="0" dirty="0">
              <a:solidFill>
                <a:srgbClr val="282743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EDB42FD6-CB13-44B3-8366-42BAF390B4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066" t="16113" r="17480" b="19434"/>
          <a:stretch/>
        </p:blipFill>
        <p:spPr>
          <a:xfrm>
            <a:off x="7315200" y="1685925"/>
            <a:ext cx="3810000" cy="3810000"/>
          </a:xfrm>
          <a:prstGeom prst="ellipse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954A66E-E356-D559-B93E-9943B5862EF1}"/>
              </a:ext>
            </a:extLst>
          </p:cNvPr>
          <p:cNvSpPr txBox="1"/>
          <p:nvPr/>
        </p:nvSpPr>
        <p:spPr>
          <a:xfrm>
            <a:off x="2408110" y="4174703"/>
            <a:ext cx="46268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队伍名称：</a:t>
            </a:r>
            <a:r>
              <a:rPr lang="en-US" altLang="zh-CN" sz="3600" dirty="0">
                <a:solidFill>
                  <a:schemeClr val="accent1">
                    <a:lumMod val="20000"/>
                    <a:lumOff val="80000"/>
                  </a:schemeClr>
                </a:solidFill>
                <a:latin typeface="+mj-ea"/>
                <a:ea typeface="+mj-ea"/>
              </a:rPr>
              <a:t>Indigo</a:t>
            </a:r>
            <a:endParaRPr lang="zh-CN" altLang="en-US" sz="3600" dirty="0">
              <a:solidFill>
                <a:schemeClr val="accent1">
                  <a:lumMod val="20000"/>
                  <a:lumOff val="80000"/>
                </a:schemeClr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771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注意力涣散，难以行动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问题定义</a:t>
            </a:r>
          </a:p>
        </p:txBody>
      </p:sp>
      <p:sp>
        <p:nvSpPr>
          <p:cNvPr id="19" name="底部正文">
            <a:extLst>
              <a:ext uri="{FF2B5EF4-FFF2-40B4-BE49-F238E27FC236}">
                <a16:creationId xmlns:a16="http://schemas.microsoft.com/office/drawing/2014/main" id="{18D952C3-CCDD-4042-9505-49F688C7153C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减少记忆负担，支持用户开始行动</a:t>
            </a:r>
          </a:p>
        </p:txBody>
      </p:sp>
      <p:sp>
        <p:nvSpPr>
          <p:cNvPr id="20" name="痛点_记忆负担">
            <a:extLst>
              <a:ext uri="{FF2B5EF4-FFF2-40B4-BE49-F238E27FC236}">
                <a16:creationId xmlns:a16="http://schemas.microsoft.com/office/drawing/2014/main" id="{A6DFD1D8-B32F-4DB8-A0A5-E01204C8C12C}"/>
              </a:ext>
            </a:extLst>
          </p:cNvPr>
          <p:cNvSpPr>
            <a:spLocks noGrp="1"/>
          </p:cNvSpPr>
          <p:nvPr/>
        </p:nvSpPr>
        <p:spPr>
          <a:xfrm>
            <a:off x="1000125" y="1571625"/>
            <a:ext cx="4667250" cy="1638300"/>
          </a:xfrm>
          <a:prstGeom prst="rect">
            <a:avLst/>
          </a:prstGeom>
          <a:solidFill>
            <a:srgbClr val="494580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杂事占据脑中</a:t>
            </a:r>
          </a:p>
          <a:p>
            <a: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难定行动先后</a:t>
            </a:r>
          </a:p>
        </p:txBody>
      </p:sp>
      <p:sp>
        <p:nvSpPr>
          <p:cNvPr id="21" name="痛点_注意切换">
            <a:extLst>
              <a:ext uri="{FF2B5EF4-FFF2-40B4-BE49-F238E27FC236}">
                <a16:creationId xmlns:a16="http://schemas.microsoft.com/office/drawing/2014/main" id="{52FF6E69-7D8B-4976-B5D2-C56353455CA7}"/>
              </a:ext>
            </a:extLst>
          </p:cNvPr>
          <p:cNvSpPr>
            <a:spLocks noGrp="1"/>
          </p:cNvSpPr>
          <p:nvPr/>
        </p:nvSpPr>
        <p:spPr>
          <a:xfrm>
            <a:off x="6524625" y="1571625"/>
            <a:ext cx="4667250" cy="1638300"/>
          </a:xfrm>
          <a:prstGeom prst="rect">
            <a:avLst/>
          </a:prstGeom>
          <a:solidFill>
            <a:srgbClr val="494580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注意力反复切换</a:t>
            </a:r>
          </a:p>
          <a:p>
            <a: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做事难以开始</a:t>
            </a:r>
          </a:p>
        </p:txBody>
      </p:sp>
      <p:sp>
        <p:nvSpPr>
          <p:cNvPr id="22" name="对应_事项">
            <a:extLst>
              <a:ext uri="{FF2B5EF4-FFF2-40B4-BE49-F238E27FC236}">
                <a16:creationId xmlns:a16="http://schemas.microsoft.com/office/drawing/2014/main" id="{89B1C636-09D9-44FA-9BD7-398FD47038DE}"/>
              </a:ext>
            </a:extLst>
          </p:cNvPr>
          <p:cNvSpPr>
            <a:spLocks noGrp="1"/>
          </p:cNvSpPr>
          <p:nvPr/>
        </p:nvSpPr>
        <p:spPr>
          <a:xfrm>
            <a:off x="1000125" y="4057650"/>
            <a:ext cx="4667250" cy="1638300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事项记录</a:t>
            </a:r>
          </a:p>
          <a:p>
            <a:pPr algn="ctr">
              <a:def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把待办交给清单</a:t>
            </a:r>
          </a:p>
        </p:txBody>
      </p:sp>
      <p:sp>
        <p:nvSpPr>
          <p:cNvPr id="23" name="对应_训练">
            <a:extLst>
              <a:ext uri="{FF2B5EF4-FFF2-40B4-BE49-F238E27FC236}">
                <a16:creationId xmlns:a16="http://schemas.microsoft.com/office/drawing/2014/main" id="{AD80973F-7451-4821-A56D-CDD81E51BE23}"/>
              </a:ext>
            </a:extLst>
          </p:cNvPr>
          <p:cNvSpPr>
            <a:spLocks noGrp="1"/>
          </p:cNvSpPr>
          <p:nvPr/>
        </p:nvSpPr>
        <p:spPr>
          <a:xfrm>
            <a:off x="6524625" y="4057650"/>
            <a:ext cx="4667250" cy="1638300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专注训练</a:t>
            </a:r>
          </a:p>
          <a:p>
            <a:pPr algn="ctr">
              <a:def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短时练习与复盘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8D460BF-13AE-48BD-917E-9B9E300504D2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3333750" y="3209925"/>
            <a:ext cx="0" cy="847725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6609170D-A44A-471D-A6BD-A55DDB81813B}"/>
              </a:ext>
            </a:extLst>
          </p:cNvPr>
          <p:cNvCxnSpPr>
            <a:stCxn id="21" idx="2"/>
            <a:endCxn id="23" idx="0"/>
          </p:cNvCxnSpPr>
          <p:nvPr/>
        </p:nvCxnSpPr>
        <p:spPr>
          <a:xfrm>
            <a:off x="8858250" y="3209925"/>
            <a:ext cx="0" cy="847725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事项与训练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解决方案</a:t>
            </a:r>
          </a:p>
        </p:txBody>
      </p:sp>
      <p:sp>
        <p:nvSpPr>
          <p:cNvPr id="18" name="事项主分支">
            <a:extLst>
              <a:ext uri="{FF2B5EF4-FFF2-40B4-BE49-F238E27FC236}">
                <a16:creationId xmlns:a16="http://schemas.microsoft.com/office/drawing/2014/main" id="{C28F792B-4972-4799-B868-515AF1CC4E51}"/>
              </a:ext>
            </a:extLst>
          </p:cNvPr>
          <p:cNvSpPr>
            <a:spLocks noGrp="1"/>
          </p:cNvSpPr>
          <p:nvPr/>
        </p:nvSpPr>
        <p:spPr>
          <a:xfrm>
            <a:off x="1000125" y="1381125"/>
            <a:ext cx="4667250" cy="742950"/>
          </a:xfrm>
          <a:prstGeom prst="rect">
            <a:avLst/>
          </a:prstGeom>
          <a:solidFill>
            <a:srgbClr val="494580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事项</a:t>
            </a:r>
          </a:p>
        </p:txBody>
      </p:sp>
      <p:sp>
        <p:nvSpPr>
          <p:cNvPr id="19" name="训练主分支">
            <a:extLst>
              <a:ext uri="{FF2B5EF4-FFF2-40B4-BE49-F238E27FC236}">
                <a16:creationId xmlns:a16="http://schemas.microsoft.com/office/drawing/2014/main" id="{87FD4D8D-3515-432E-89EE-70867DEDF33A}"/>
              </a:ext>
            </a:extLst>
          </p:cNvPr>
          <p:cNvSpPr>
            <a:spLocks noGrp="1"/>
          </p:cNvSpPr>
          <p:nvPr/>
        </p:nvSpPr>
        <p:spPr>
          <a:xfrm>
            <a:off x="6524625" y="1381125"/>
            <a:ext cx="4667250" cy="742950"/>
          </a:xfrm>
          <a:prstGeom prst="rect">
            <a:avLst/>
          </a:prstGeom>
          <a:solidFill>
            <a:srgbClr val="494580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训练</a:t>
            </a:r>
          </a:p>
        </p:txBody>
      </p:sp>
      <p:sp>
        <p:nvSpPr>
          <p:cNvPr id="20" name="事项功能0">
            <a:extLst>
              <a:ext uri="{FF2B5EF4-FFF2-40B4-BE49-F238E27FC236}">
                <a16:creationId xmlns:a16="http://schemas.microsoft.com/office/drawing/2014/main" id="{EACC2618-8992-4E76-9282-A5BB0E554FA2}"/>
              </a:ext>
            </a:extLst>
          </p:cNvPr>
          <p:cNvSpPr>
            <a:spLocks noGrp="1"/>
          </p:cNvSpPr>
          <p:nvPr/>
        </p:nvSpPr>
        <p:spPr>
          <a:xfrm>
            <a:off x="1238250" y="2476500"/>
            <a:ext cx="4191000" cy="895350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AI语音添加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连续录入后确认</a:t>
            </a:r>
          </a:p>
        </p:txBody>
      </p:sp>
      <p:sp>
        <p:nvSpPr>
          <p:cNvPr id="21" name="训练功能0">
            <a:extLst>
              <a:ext uri="{FF2B5EF4-FFF2-40B4-BE49-F238E27FC236}">
                <a16:creationId xmlns:a16="http://schemas.microsoft.com/office/drawing/2014/main" id="{CD82D333-95E2-42AC-BFAA-C80FCA264724}"/>
              </a:ext>
            </a:extLst>
          </p:cNvPr>
          <p:cNvSpPr>
            <a:spLocks noGrp="1"/>
          </p:cNvSpPr>
          <p:nvPr/>
        </p:nvSpPr>
        <p:spPr>
          <a:xfrm>
            <a:off x="6762750" y="2476500"/>
            <a:ext cx="4191000" cy="895350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经典5×5与圆形变式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自主选择难度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E791E65-AEAF-4B9D-80A7-898BB21DB515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3333750" y="2124075"/>
            <a:ext cx="0" cy="352425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49D5208-F0BC-482D-A969-1CB45988DD73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8858250" y="2124075"/>
            <a:ext cx="0" cy="352425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sp>
        <p:nvSpPr>
          <p:cNvPr id="24" name="事项功能1">
            <a:extLst>
              <a:ext uri="{FF2B5EF4-FFF2-40B4-BE49-F238E27FC236}">
                <a16:creationId xmlns:a16="http://schemas.microsoft.com/office/drawing/2014/main" id="{9D4DC3AB-8719-4ED3-93B0-EDFF93B5B97B}"/>
              </a:ext>
            </a:extLst>
          </p:cNvPr>
          <p:cNvSpPr>
            <a:spLocks noGrp="1"/>
          </p:cNvSpPr>
          <p:nvPr/>
        </p:nvSpPr>
        <p:spPr>
          <a:xfrm>
            <a:off x="1238250" y="3657600"/>
            <a:ext cx="4191000" cy="895350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重要度与紧急度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日程与四象限</a:t>
            </a:r>
          </a:p>
        </p:txBody>
      </p:sp>
      <p:sp>
        <p:nvSpPr>
          <p:cNvPr id="25" name="训练功能1">
            <a:extLst>
              <a:ext uri="{FF2B5EF4-FFF2-40B4-BE49-F238E27FC236}">
                <a16:creationId xmlns:a16="http://schemas.microsoft.com/office/drawing/2014/main" id="{831CA426-979B-4CA2-B400-082D241E300C}"/>
              </a:ext>
            </a:extLst>
          </p:cNvPr>
          <p:cNvSpPr>
            <a:spLocks noGrp="1"/>
          </p:cNvSpPr>
          <p:nvPr/>
        </p:nvSpPr>
        <p:spPr>
          <a:xfrm>
            <a:off x="6762750" y="3657600"/>
            <a:ext cx="4191000" cy="895350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练后复盘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慢段与下一局建议</a:t>
            </a:r>
          </a:p>
        </p:txBody>
      </p: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D7D06C25-C8BE-4660-99CB-E9D13AD3638D}"/>
              </a:ext>
            </a:extLst>
          </p:cNvPr>
          <p:cNvCxnSpPr>
            <a:stCxn id="20" idx="2"/>
            <a:endCxn id="24" idx="0"/>
          </p:cNvCxnSpPr>
          <p:nvPr/>
        </p:nvCxnSpPr>
        <p:spPr>
          <a:xfrm>
            <a:off x="3333750" y="3371850"/>
            <a:ext cx="0" cy="285750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5DE1617-290E-42C3-814C-38FAA4B28925}"/>
              </a:ext>
            </a:extLst>
          </p:cNvPr>
          <p:cNvCxnSpPr>
            <a:stCxn id="21" idx="2"/>
            <a:endCxn id="25" idx="0"/>
          </p:cNvCxnSpPr>
          <p:nvPr/>
        </p:nvCxnSpPr>
        <p:spPr>
          <a:xfrm>
            <a:off x="8858250" y="3371850"/>
            <a:ext cx="0" cy="285750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sp>
        <p:nvSpPr>
          <p:cNvPr id="28" name="事项功能2">
            <a:extLst>
              <a:ext uri="{FF2B5EF4-FFF2-40B4-BE49-F238E27FC236}">
                <a16:creationId xmlns:a16="http://schemas.microsoft.com/office/drawing/2014/main" id="{9F1D8DF9-1BC2-4160-B26E-358C520B87C8}"/>
              </a:ext>
            </a:extLst>
          </p:cNvPr>
          <p:cNvSpPr>
            <a:spLocks noGrp="1"/>
          </p:cNvSpPr>
          <p:nvPr/>
        </p:nvSpPr>
        <p:spPr>
          <a:xfrm>
            <a:off x="1238250" y="4838700"/>
            <a:ext cx="4191000" cy="895350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定时冥想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雨声或海浪白噪音</a:t>
            </a:r>
          </a:p>
        </p:txBody>
      </p:sp>
      <p:sp>
        <p:nvSpPr>
          <p:cNvPr id="29" name="训练功能2">
            <a:extLst>
              <a:ext uri="{FF2B5EF4-FFF2-40B4-BE49-F238E27FC236}">
                <a16:creationId xmlns:a16="http://schemas.microsoft.com/office/drawing/2014/main" id="{B4C26CBA-3C85-4062-B1C5-F2768A617ACB}"/>
              </a:ext>
            </a:extLst>
          </p:cNvPr>
          <p:cNvSpPr>
            <a:spLocks noGrp="1"/>
          </p:cNvSpPr>
          <p:nvPr/>
        </p:nvSpPr>
        <p:spPr>
          <a:xfrm>
            <a:off x="6762750" y="4838700"/>
            <a:ext cx="4191000" cy="895350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周报（规划）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关联已录入的重要事项</a:t>
            </a:r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DE269774-002D-47F9-AF8C-EE3C38EF11FA}"/>
              </a:ext>
            </a:extLst>
          </p:cNvPr>
          <p:cNvCxnSpPr>
            <a:stCxn id="24" idx="2"/>
            <a:endCxn id="28" idx="0"/>
          </p:cNvCxnSpPr>
          <p:nvPr/>
        </p:nvCxnSpPr>
        <p:spPr>
          <a:xfrm>
            <a:off x="3333750" y="4552950"/>
            <a:ext cx="0" cy="285750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E545A099-DB32-44D5-BFA9-C368F30ED035}"/>
              </a:ext>
            </a:extLst>
          </p:cNvPr>
          <p:cNvCxnSpPr>
            <a:stCxn id="25" idx="2"/>
            <a:endCxn id="29" idx="0"/>
          </p:cNvCxnSpPr>
          <p:nvPr/>
        </p:nvCxnSpPr>
        <p:spPr>
          <a:xfrm>
            <a:off x="8858250" y="4552950"/>
            <a:ext cx="0" cy="285750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sp>
        <p:nvSpPr>
          <p:cNvPr id="32" name="底部正文">
            <a:extLst>
              <a:ext uri="{FF2B5EF4-FFF2-40B4-BE49-F238E27FC236}">
                <a16:creationId xmlns:a16="http://schemas.microsoft.com/office/drawing/2014/main" id="{869532A4-B0D9-4A08-96FD-F6EBEB4EA2F0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用户确认事项，练习记录支持安排</a:t>
            </a:r>
          </a:p>
        </p:txBody>
      </p:sp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技术架构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规则统计提供依据，AI解释结果</a:t>
            </a:r>
          </a:p>
        </p:txBody>
      </p:sp>
      <p:sp>
        <p:nvSpPr>
          <p:cNvPr id="18" name="浏览器">
            <a:extLst>
              <a:ext uri="{FF2B5EF4-FFF2-40B4-BE49-F238E27FC236}">
                <a16:creationId xmlns:a16="http://schemas.microsoft.com/office/drawing/2014/main" id="{6EEEA77A-FBC2-45A5-ABC7-3C29208FE274}"/>
              </a:ext>
            </a:extLst>
          </p:cNvPr>
          <p:cNvSpPr>
            <a:spLocks noGrp="1"/>
          </p:cNvSpPr>
          <p:nvPr/>
        </p:nvSpPr>
        <p:spPr>
          <a:xfrm>
            <a:off x="819150" y="1590675"/>
            <a:ext cx="2933700" cy="1314450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网页端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React + TypeScript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录音、训练与冥想</a:t>
            </a:r>
          </a:p>
        </p:txBody>
      </p:sp>
      <p:sp>
        <p:nvSpPr>
          <p:cNvPr id="19" name="Node入口">
            <a:extLst>
              <a:ext uri="{FF2B5EF4-FFF2-40B4-BE49-F238E27FC236}">
                <a16:creationId xmlns:a16="http://schemas.microsoft.com/office/drawing/2014/main" id="{F718272B-04A8-4EE0-AA44-7FA714B2510E}"/>
              </a:ext>
            </a:extLst>
          </p:cNvPr>
          <p:cNvSpPr>
            <a:spLocks noGrp="1"/>
          </p:cNvSpPr>
          <p:nvPr/>
        </p:nvSpPr>
        <p:spPr>
          <a:xfrm>
            <a:off x="4629150" y="1590675"/>
            <a:ext cx="2933700" cy="1314450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Node.js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API入口与单局复盘</a:t>
            </a:r>
          </a:p>
        </p:txBody>
      </p:sp>
      <p:sp>
        <p:nvSpPr>
          <p:cNvPr id="20" name="后端业务">
            <a:extLst>
              <a:ext uri="{FF2B5EF4-FFF2-40B4-BE49-F238E27FC236}">
                <a16:creationId xmlns:a16="http://schemas.microsoft.com/office/drawing/2014/main" id="{D7BD67E0-E6DD-4392-8CC4-4D1641F68BAD}"/>
              </a:ext>
            </a:extLst>
          </p:cNvPr>
          <p:cNvSpPr>
            <a:spLocks noGrp="1"/>
          </p:cNvSpPr>
          <p:nvPr/>
        </p:nvSpPr>
        <p:spPr>
          <a:xfrm>
            <a:off x="8439150" y="1590675"/>
            <a:ext cx="2933700" cy="1314450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FastAPI + Worker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事项与训练摘要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Whisper识别回退</a:t>
            </a:r>
          </a:p>
        </p:txBody>
      </p:sp>
      <p:sp>
        <p:nvSpPr>
          <p:cNvPr id="21" name="MiMo">
            <a:extLst>
              <a:ext uri="{FF2B5EF4-FFF2-40B4-BE49-F238E27FC236}">
                <a16:creationId xmlns:a16="http://schemas.microsoft.com/office/drawing/2014/main" id="{4F021D1F-DAFE-45E3-8770-CC5184E677BC}"/>
              </a:ext>
            </a:extLst>
          </p:cNvPr>
          <p:cNvSpPr>
            <a:spLocks noGrp="1"/>
          </p:cNvSpPr>
          <p:nvPr/>
        </p:nvSpPr>
        <p:spPr>
          <a:xfrm>
            <a:off x="4629150" y="4019550"/>
            <a:ext cx="2933700" cy="1314450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MiMo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事项理解与训练复盘</a:t>
            </a:r>
          </a:p>
        </p:txBody>
      </p:sp>
      <p:sp>
        <p:nvSpPr>
          <p:cNvPr id="22" name="数据库">
            <a:extLst>
              <a:ext uri="{FF2B5EF4-FFF2-40B4-BE49-F238E27FC236}">
                <a16:creationId xmlns:a16="http://schemas.microsoft.com/office/drawing/2014/main" id="{DC55A8AD-CC89-4C2C-A3BC-B9DD5CD34384}"/>
              </a:ext>
            </a:extLst>
          </p:cNvPr>
          <p:cNvSpPr>
            <a:spLocks noGrp="1"/>
          </p:cNvSpPr>
          <p:nvPr/>
        </p:nvSpPr>
        <p:spPr>
          <a:xfrm>
            <a:off x="8439150" y="4019550"/>
            <a:ext cx="2933700" cy="1314450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PostgreSQL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事项与训练记录</a:t>
            </a: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0AF5A6D4-E471-4591-99CC-C058E4053F07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3752850" y="2247900"/>
            <a:ext cx="876300" cy="0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D5908E89-B7B4-4D1F-9EF5-A414A79BB17E}"/>
              </a:ext>
            </a:extLst>
          </p:cNvPr>
          <p:cNvCxnSpPr>
            <a:stCxn id="19" idx="3"/>
            <a:endCxn id="20" idx="1"/>
          </p:cNvCxnSpPr>
          <p:nvPr/>
        </p:nvCxnSpPr>
        <p:spPr>
          <a:xfrm>
            <a:off x="7562850" y="2247900"/>
            <a:ext cx="876300" cy="0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DE8F5EED-247A-4F2E-9A04-D3800ABF9918}"/>
              </a:ext>
            </a:extLst>
          </p:cNvPr>
          <p:cNvCxnSpPr>
            <a:stCxn id="19" idx="2"/>
            <a:endCxn id="21" idx="0"/>
          </p:cNvCxnSpPr>
          <p:nvPr/>
        </p:nvCxnSpPr>
        <p:spPr>
          <a:xfrm>
            <a:off x="6096000" y="2905125"/>
            <a:ext cx="0" cy="1114425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1F11AE5D-9A2C-4126-A593-00FFCF73F7B5}"/>
              </a:ext>
            </a:extLst>
          </p:cNvPr>
          <p:cNvCxnSpPr>
            <a:stCxn id="20" idx="2"/>
            <a:endCxn id="22" idx="0"/>
          </p:cNvCxnSpPr>
          <p:nvPr/>
        </p:nvCxnSpPr>
        <p:spPr>
          <a:xfrm>
            <a:off x="9906000" y="2905125"/>
            <a:ext cx="0" cy="1114425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7" name="连接符: 肘形 26">
            <a:extLst>
              <a:ext uri="{FF2B5EF4-FFF2-40B4-BE49-F238E27FC236}">
                <a16:creationId xmlns:a16="http://schemas.microsoft.com/office/drawing/2014/main" id="{2E7CD142-FD65-44DD-A716-6ACEAF80CA6E}"/>
              </a:ext>
            </a:extLst>
          </p:cNvPr>
          <p:cNvCxnSpPr>
            <a:stCxn id="20" idx="1"/>
            <a:endCxn id="21" idx="3"/>
          </p:cNvCxnSpPr>
          <p:nvPr/>
        </p:nvCxnSpPr>
        <p:spPr>
          <a:xfrm flipH="1">
            <a:off x="7562850" y="2247900"/>
            <a:ext cx="876300" cy="2428875"/>
          </a:xfrm>
          <a:prstGeom prst="bentConnector3">
            <a:avLst>
              <a:gd name="adj1" fmla="val 50000"/>
            </a:avLst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sp>
        <p:nvSpPr>
          <p:cNvPr id="28" name="周报规划">
            <a:extLst>
              <a:ext uri="{FF2B5EF4-FFF2-40B4-BE49-F238E27FC236}">
                <a16:creationId xmlns:a16="http://schemas.microsoft.com/office/drawing/2014/main" id="{BB8DB313-21B1-4975-89B4-CDC24F185B22}"/>
              </a:ext>
            </a:extLst>
          </p:cNvPr>
          <p:cNvSpPr>
            <a:spLocks noGrp="1"/>
          </p:cNvSpPr>
          <p:nvPr/>
        </p:nvSpPr>
        <p:spPr>
          <a:xfrm>
            <a:off x="819150" y="4019550"/>
            <a:ext cx="2933700" cy="1314450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周报扩展（规划）</a:t>
            </a:r>
          </a:p>
          <a:p>
            <a:pPr algn="ctr">
              <a:buNone/>
              <a:def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9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同条件统计与事项建议</a:t>
            </a:r>
          </a:p>
        </p:txBody>
      </p:sp>
      <p:sp>
        <p:nvSpPr>
          <p:cNvPr id="29" name="底部正文">
            <a:extLst>
              <a:ext uri="{FF2B5EF4-FFF2-40B4-BE49-F238E27FC236}">
                <a16:creationId xmlns:a16="http://schemas.microsoft.com/office/drawing/2014/main" id="{4CEB7A8D-3AE7-40B7-82EB-8F74A9F4CEA9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AI提出建议，用户确认评分和事项安排</a:t>
            </a:r>
          </a:p>
        </p:txBody>
      </p:sp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AI语音添加事项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连续录入多个事项，AI拆分后确认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A0E9EC5-0CAE-45A0-9F1F-E9C29B747B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04" t="14898" r="3704" b="17132"/>
          <a:stretch/>
        </p:blipFill>
        <p:spPr>
          <a:xfrm>
            <a:off x="692324" y="1238250"/>
            <a:ext cx="3320702" cy="4848225"/>
          </a:xfrm>
          <a:prstGeom prst="rect">
            <a:avLst/>
          </a:prstGeom>
        </p:spPr>
      </p:pic>
      <p:sp>
        <p:nvSpPr>
          <p:cNvPr id="19" name="截图说明0">
            <a:extLst>
              <a:ext uri="{FF2B5EF4-FFF2-40B4-BE49-F238E27FC236}">
                <a16:creationId xmlns:a16="http://schemas.microsoft.com/office/drawing/2014/main" id="{FC1A3323-AB53-4690-A033-4636825CA00D}"/>
              </a:ext>
            </a:extLst>
          </p:cNvPr>
          <p:cNvSpPr>
            <a:spLocks noGrp="1"/>
          </p:cNvSpPr>
          <p:nvPr/>
        </p:nvSpPr>
        <p:spPr>
          <a:xfrm>
            <a:off x="590550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语音或文字入口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18213F2-A0EC-4690-996E-FDFE3E1D7F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630" t="17102" r="4630" b="10214"/>
          <a:stretch/>
        </p:blipFill>
        <p:spPr>
          <a:xfrm>
            <a:off x="4543300" y="1238250"/>
            <a:ext cx="3105399" cy="4848225"/>
          </a:xfrm>
          <a:prstGeom prst="rect">
            <a:avLst/>
          </a:prstGeom>
        </p:spPr>
      </p:pic>
      <p:sp>
        <p:nvSpPr>
          <p:cNvPr id="21" name="截图说明1">
            <a:extLst>
              <a:ext uri="{FF2B5EF4-FFF2-40B4-BE49-F238E27FC236}">
                <a16:creationId xmlns:a16="http://schemas.microsoft.com/office/drawing/2014/main" id="{F0977E73-C461-4CCA-B3C8-DAC597480423}"/>
              </a:ext>
            </a:extLst>
          </p:cNvPr>
          <p:cNvSpPr>
            <a:spLocks noGrp="1"/>
          </p:cNvSpPr>
          <p:nvPr/>
        </p:nvSpPr>
        <p:spPr>
          <a:xfrm>
            <a:off x="4333875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AI提案与用户确认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2F1773A-D28F-40BD-933A-CEA5D439FF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89" t="10648" r="3889" b="10790"/>
          <a:stretch/>
        </p:blipFill>
        <p:spPr>
          <a:xfrm>
            <a:off x="8384858" y="1238250"/>
            <a:ext cx="2908935" cy="4848225"/>
          </a:xfrm>
          <a:prstGeom prst="rect">
            <a:avLst/>
          </a:prstGeom>
        </p:spPr>
      </p:pic>
      <p:sp>
        <p:nvSpPr>
          <p:cNvPr id="23" name="截图说明2">
            <a:extLst>
              <a:ext uri="{FF2B5EF4-FFF2-40B4-BE49-F238E27FC236}">
                <a16:creationId xmlns:a16="http://schemas.microsoft.com/office/drawing/2014/main" id="{EC19CA2D-0580-4091-B6DA-C5F6FBD0C8D4}"/>
              </a:ext>
            </a:extLst>
          </p:cNvPr>
          <p:cNvSpPr>
            <a:spLocks noGrp="1"/>
          </p:cNvSpPr>
          <p:nvPr/>
        </p:nvSpPr>
        <p:spPr>
          <a:xfrm>
            <a:off x="8077200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保存后的事项</a:t>
            </a:r>
          </a:p>
        </p:txBody>
      </p:sp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事项安排与冥想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重要度与紧急度独立评分，支持定时休息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A297EC90-0AB6-49D9-B2E7-BB38CE1E6B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89" t="8992" r="3889" b="16706"/>
          <a:stretch/>
        </p:blipFill>
        <p:spPr>
          <a:xfrm>
            <a:off x="814830" y="1238250"/>
            <a:ext cx="3075689" cy="4848225"/>
          </a:xfrm>
          <a:prstGeom prst="rect">
            <a:avLst/>
          </a:prstGeom>
        </p:spPr>
      </p:pic>
      <p:sp>
        <p:nvSpPr>
          <p:cNvPr id="19" name="截图说明0">
            <a:extLst>
              <a:ext uri="{FF2B5EF4-FFF2-40B4-BE49-F238E27FC236}">
                <a16:creationId xmlns:a16="http://schemas.microsoft.com/office/drawing/2014/main" id="{1E16800D-40FB-40DC-AC41-B51741AA1E28}"/>
              </a:ext>
            </a:extLst>
          </p:cNvPr>
          <p:cNvSpPr>
            <a:spLocks noGrp="1"/>
          </p:cNvSpPr>
          <p:nvPr/>
        </p:nvSpPr>
        <p:spPr>
          <a:xfrm>
            <a:off x="590550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四象限排序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C9AB43B-0C9A-46BB-84C9-275E2D370D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89" t="9233" r="3889" b="13116"/>
          <a:stretch/>
        </p:blipFill>
        <p:spPr>
          <a:xfrm>
            <a:off x="4623795" y="1238250"/>
            <a:ext cx="2944410" cy="4848225"/>
          </a:xfrm>
          <a:prstGeom prst="rect">
            <a:avLst/>
          </a:prstGeom>
        </p:spPr>
      </p:pic>
      <p:sp>
        <p:nvSpPr>
          <p:cNvPr id="21" name="截图说明1">
            <a:extLst>
              <a:ext uri="{FF2B5EF4-FFF2-40B4-BE49-F238E27FC236}">
                <a16:creationId xmlns:a16="http://schemas.microsoft.com/office/drawing/2014/main" id="{81FEEA4B-C852-42D5-AD17-69BD049A0348}"/>
              </a:ext>
            </a:extLst>
          </p:cNvPr>
          <p:cNvSpPr>
            <a:spLocks noGrp="1"/>
          </p:cNvSpPr>
          <p:nvPr/>
        </p:nvSpPr>
        <p:spPr>
          <a:xfrm>
            <a:off x="4333875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日程安排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C66C5C7-4E5F-48A2-922F-CCA9F34A37B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779" b="12676"/>
          <a:stretch/>
        </p:blipFill>
        <p:spPr>
          <a:xfrm>
            <a:off x="8077200" y="1280231"/>
            <a:ext cx="3524250" cy="4764264"/>
          </a:xfrm>
          <a:prstGeom prst="rect">
            <a:avLst/>
          </a:prstGeom>
        </p:spPr>
      </p:pic>
      <p:sp>
        <p:nvSpPr>
          <p:cNvPr id="23" name="截图说明2">
            <a:extLst>
              <a:ext uri="{FF2B5EF4-FFF2-40B4-BE49-F238E27FC236}">
                <a16:creationId xmlns:a16="http://schemas.microsoft.com/office/drawing/2014/main" id="{A7B5E26D-56D2-491D-9E62-502046EB40E9}"/>
              </a:ext>
            </a:extLst>
          </p:cNvPr>
          <p:cNvSpPr>
            <a:spLocks noGrp="1"/>
          </p:cNvSpPr>
          <p:nvPr/>
        </p:nvSpPr>
        <p:spPr>
          <a:xfrm>
            <a:off x="8077200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白噪音冥想</a:t>
            </a:r>
          </a:p>
        </p:txBody>
      </p:sp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舒尔特训练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经典5×5与圆形变式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1354DF8-C0B3-43B4-A737-FAE0B91CD9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04" t="14561" r="3704" b="18741"/>
          <a:stretch/>
        </p:blipFill>
        <p:spPr>
          <a:xfrm>
            <a:off x="645554" y="1238250"/>
            <a:ext cx="3414243" cy="4848225"/>
          </a:xfrm>
          <a:prstGeom prst="rect">
            <a:avLst/>
          </a:prstGeom>
        </p:spPr>
      </p:pic>
      <p:sp>
        <p:nvSpPr>
          <p:cNvPr id="19" name="截图说明0">
            <a:extLst>
              <a:ext uri="{FF2B5EF4-FFF2-40B4-BE49-F238E27FC236}">
                <a16:creationId xmlns:a16="http://schemas.microsoft.com/office/drawing/2014/main" id="{96B75A50-0854-472E-9875-799D2128A027}"/>
              </a:ext>
            </a:extLst>
          </p:cNvPr>
          <p:cNvSpPr>
            <a:spLocks noGrp="1"/>
          </p:cNvSpPr>
          <p:nvPr/>
        </p:nvSpPr>
        <p:spPr>
          <a:xfrm>
            <a:off x="590550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玩法与难度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3DA1755-13B4-4A69-9B49-C4B5AD7AB2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04" t="26378" r="3704" b="13801"/>
          <a:stretch/>
        </p:blipFill>
        <p:spPr>
          <a:xfrm>
            <a:off x="4333875" y="1424464"/>
            <a:ext cx="3524250" cy="4475798"/>
          </a:xfrm>
          <a:prstGeom prst="rect">
            <a:avLst/>
          </a:prstGeom>
        </p:spPr>
      </p:pic>
      <p:sp>
        <p:nvSpPr>
          <p:cNvPr id="21" name="截图说明1">
            <a:extLst>
              <a:ext uri="{FF2B5EF4-FFF2-40B4-BE49-F238E27FC236}">
                <a16:creationId xmlns:a16="http://schemas.microsoft.com/office/drawing/2014/main" id="{71D2918E-5C3E-4D83-AEA5-7D8503925688}"/>
              </a:ext>
            </a:extLst>
          </p:cNvPr>
          <p:cNvSpPr>
            <a:spLocks noGrp="1"/>
          </p:cNvSpPr>
          <p:nvPr/>
        </p:nvSpPr>
        <p:spPr>
          <a:xfrm>
            <a:off x="4333875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经典5×5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577FCAB-FB9C-40E9-AB2A-0A92D869D7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704" t="26403" r="3704" b="13178"/>
          <a:stretch/>
        </p:blipFill>
        <p:spPr>
          <a:xfrm>
            <a:off x="8077200" y="1424464"/>
            <a:ext cx="3524250" cy="4475798"/>
          </a:xfrm>
          <a:prstGeom prst="rect">
            <a:avLst/>
          </a:prstGeom>
        </p:spPr>
      </p:pic>
      <p:sp>
        <p:nvSpPr>
          <p:cNvPr id="23" name="截图说明2">
            <a:extLst>
              <a:ext uri="{FF2B5EF4-FFF2-40B4-BE49-F238E27FC236}">
                <a16:creationId xmlns:a16="http://schemas.microsoft.com/office/drawing/2014/main" id="{8E9E4ADC-E826-425D-AC6F-7CE6B0D5385E}"/>
              </a:ext>
            </a:extLst>
          </p:cNvPr>
          <p:cNvSpPr>
            <a:spLocks noGrp="1"/>
          </p:cNvSpPr>
          <p:nvPr/>
        </p:nvSpPr>
        <p:spPr>
          <a:xfrm>
            <a:off x="8077200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圆形变式</a:t>
            </a:r>
          </a:p>
        </p:txBody>
      </p:sp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练后复盘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用时、误触与慢段，形成下一局建议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F45421A6-1491-4967-B7D2-E6B5DDAFD9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04" r="3704" b="27408"/>
          <a:stretch/>
        </p:blipFill>
        <p:spPr>
          <a:xfrm>
            <a:off x="752601" y="1238250"/>
            <a:ext cx="3200149" cy="484822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AFC6ED2F-575E-464B-931F-73E5F9ABEE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89" t="11577" r="3889" b="11722"/>
          <a:stretch/>
        </p:blipFill>
        <p:spPr>
          <a:xfrm>
            <a:off x="4577499" y="1238250"/>
            <a:ext cx="3037001" cy="4848225"/>
          </a:xfrm>
          <a:prstGeom prst="rect">
            <a:avLst/>
          </a:prstGeom>
        </p:spPr>
      </p:pic>
      <p:sp>
        <p:nvSpPr>
          <p:cNvPr id="20" name="慢段图标题">
            <a:extLst>
              <a:ext uri="{FF2B5EF4-FFF2-40B4-BE49-F238E27FC236}">
                <a16:creationId xmlns:a16="http://schemas.microsoft.com/office/drawing/2014/main" id="{7A54CA9E-4368-4DAC-A69E-A6B524210535}"/>
              </a:ext>
            </a:extLst>
          </p:cNvPr>
          <p:cNvSpPr>
            <a:spLocks noGrp="1"/>
          </p:cNvSpPr>
          <p:nvPr/>
        </p:nvSpPr>
        <p:spPr>
          <a:xfrm>
            <a:off x="8172450" y="1390650"/>
            <a:ext cx="32385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1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1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本局慢段</a:t>
            </a:r>
          </a:p>
        </p:txBody>
      </p:sp>
      <p:sp>
        <p:nvSpPr>
          <p:cNvPr id="22" name="复盘建议">
            <a:extLst>
              <a:ext uri="{FF2B5EF4-FFF2-40B4-BE49-F238E27FC236}">
                <a16:creationId xmlns:a16="http://schemas.microsoft.com/office/drawing/2014/main" id="{431827BC-3380-49B7-ACC2-903E70E31D0B}"/>
              </a:ext>
            </a:extLst>
          </p:cNvPr>
          <p:cNvSpPr>
            <a:spLocks noGrp="1"/>
          </p:cNvSpPr>
          <p:nvPr/>
        </p:nvSpPr>
        <p:spPr>
          <a:xfrm>
            <a:off x="8201025" y="5238750"/>
            <a:ext cx="3133725" cy="628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下一局先看清目标，</a:t>
            </a:r>
          </a:p>
          <a:p>
            <a:pPr algn="ctr">
              <a:buNone/>
              <a:defRPr sz="1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再保持稳定点击节奏</a:t>
            </a:r>
          </a:p>
        </p:txBody>
      </p:sp>
      <p:sp>
        <p:nvSpPr>
          <p:cNvPr id="23" name="复盘列说明0">
            <a:extLst>
              <a:ext uri="{FF2B5EF4-FFF2-40B4-BE49-F238E27FC236}">
                <a16:creationId xmlns:a16="http://schemas.microsoft.com/office/drawing/2014/main" id="{A6D13060-E9A7-4B68-BDC0-B47DB2B47450}"/>
              </a:ext>
            </a:extLst>
          </p:cNvPr>
          <p:cNvSpPr>
            <a:spLocks noGrp="1"/>
          </p:cNvSpPr>
          <p:nvPr/>
        </p:nvSpPr>
        <p:spPr>
          <a:xfrm>
            <a:off x="590550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训练记录</a:t>
            </a:r>
          </a:p>
        </p:txBody>
      </p:sp>
      <p:sp>
        <p:nvSpPr>
          <p:cNvPr id="24" name="复盘列说明1">
            <a:extLst>
              <a:ext uri="{FF2B5EF4-FFF2-40B4-BE49-F238E27FC236}">
                <a16:creationId xmlns:a16="http://schemas.microsoft.com/office/drawing/2014/main" id="{82BEF955-E424-4096-9D67-27365D437CE9}"/>
              </a:ext>
            </a:extLst>
          </p:cNvPr>
          <p:cNvSpPr>
            <a:spLocks noGrp="1"/>
          </p:cNvSpPr>
          <p:nvPr/>
        </p:nvSpPr>
        <p:spPr>
          <a:xfrm>
            <a:off x="4333875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AI本局复盘</a:t>
            </a:r>
          </a:p>
        </p:txBody>
      </p:sp>
      <p:sp>
        <p:nvSpPr>
          <p:cNvPr id="25" name="复盘列说明2">
            <a:extLst>
              <a:ext uri="{FF2B5EF4-FFF2-40B4-BE49-F238E27FC236}">
                <a16:creationId xmlns:a16="http://schemas.microsoft.com/office/drawing/2014/main" id="{79876F53-F1FB-4233-A46B-E58331C0BE25}"/>
              </a:ext>
            </a:extLst>
          </p:cNvPr>
          <p:cNvSpPr>
            <a:spLocks noGrp="1"/>
          </p:cNvSpPr>
          <p:nvPr/>
        </p:nvSpPr>
        <p:spPr>
          <a:xfrm>
            <a:off x="8077200" y="6153150"/>
            <a:ext cx="35242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依据点击数据建议</a:t>
            </a:r>
          </a:p>
        </p:txBody>
      </p:sp>
      <p:graphicFrame>
        <p:nvGraphicFramePr>
          <p:cNvPr id="26" name="Chart">
            <a:extLst>
              <a:ext uri="{FF2B5EF4-FFF2-40B4-BE49-F238E27FC236}">
                <a16:creationId xmlns:a16="http://schemas.microsoft.com/office/drawing/2014/main" id="{6CAE15F5-3C2E-4899-A4E1-4978905456D9}"/>
              </a:ext>
            </a:extLst>
          </p:cNvPr>
          <p:cNvGraphicFramePr/>
          <p:nvPr/>
        </p:nvGraphicFramePr>
        <p:xfrm>
          <a:off x="8105775" y="2009775"/>
          <a:ext cx="3324225" cy="2914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周报与事项建议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示例数据</a:t>
            </a:r>
          </a:p>
        </p:txBody>
      </p:sp>
      <p:sp>
        <p:nvSpPr>
          <p:cNvPr id="19" name="事项建议">
            <a:extLst>
              <a:ext uri="{FF2B5EF4-FFF2-40B4-BE49-F238E27FC236}">
                <a16:creationId xmlns:a16="http://schemas.microsoft.com/office/drawing/2014/main" id="{061F1582-9C80-45E0-A705-32CB2A20B3CC}"/>
              </a:ext>
            </a:extLst>
          </p:cNvPr>
          <p:cNvSpPr>
            <a:spLocks noGrp="1"/>
          </p:cNvSpPr>
          <p:nvPr/>
        </p:nvSpPr>
        <p:spPr>
          <a:xfrm>
            <a:off x="828675" y="5762625"/>
            <a:ext cx="105346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若晚间有空且不影响截止，可尝试安排已录入的“阅读10篇文献”</a:t>
            </a:r>
          </a:p>
        </p:txBody>
      </p:sp>
      <p:sp>
        <p:nvSpPr>
          <p:cNvPr id="20" name="周报条件">
            <a:extLst>
              <a:ext uri="{FF2B5EF4-FFF2-40B4-BE49-F238E27FC236}">
                <a16:creationId xmlns:a16="http://schemas.microsoft.com/office/drawing/2014/main" id="{B9111811-E0BA-455E-8C54-D6F98AD9604F}"/>
              </a:ext>
            </a:extLst>
          </p:cNvPr>
          <p:cNvSpPr>
            <a:spLocks noGrp="1"/>
          </p:cNvSpPr>
          <p:nvPr/>
        </p:nvSpPr>
        <p:spPr>
          <a:xfrm>
            <a:off x="847725" y="6191250"/>
            <a:ext cx="104965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5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柱为平均用时，点为每局用时。结合误触与日程，由用户确认。</a:t>
            </a:r>
          </a:p>
        </p:txBody>
      </p:sp>
      <p:graphicFrame>
        <p:nvGraphicFramePr>
          <p:cNvPr id="21" name="Chart">
            <a:extLst>
              <a:ext uri="{FF2B5EF4-FFF2-40B4-BE49-F238E27FC236}">
                <a16:creationId xmlns:a16="http://schemas.microsoft.com/office/drawing/2014/main" id="{76EEFE05-C8EB-4EF8-B48F-AB7A16DCAE4E}"/>
              </a:ext>
            </a:extLst>
          </p:cNvPr>
          <p:cNvGraphicFramePr/>
          <p:nvPr/>
        </p:nvGraphicFramePr>
        <p:xfrm>
          <a:off x="981075" y="1314450"/>
          <a:ext cx="10229850" cy="4286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周报_1时段_1局_39秒">
            <a:extLst>
              <a:ext uri="{FF2B5EF4-FFF2-40B4-BE49-F238E27FC236}">
                <a16:creationId xmlns:a16="http://schemas.microsoft.com/office/drawing/2014/main" id="{B3A0EF2C-B141-42D0-A180-BA5B44EB604C}"/>
              </a:ext>
            </a:extLst>
          </p:cNvPr>
          <p:cNvSpPr>
            <a:spLocks noGrp="1"/>
          </p:cNvSpPr>
          <p:nvPr/>
        </p:nvSpPr>
        <p:spPr>
          <a:xfrm>
            <a:off x="2407444" y="2695575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周报_1时段_2局_37秒">
            <a:extLst>
              <a:ext uri="{FF2B5EF4-FFF2-40B4-BE49-F238E27FC236}">
                <a16:creationId xmlns:a16="http://schemas.microsoft.com/office/drawing/2014/main" id="{C93AC073-8D49-4D67-867C-6CD1706AC205}"/>
              </a:ext>
            </a:extLst>
          </p:cNvPr>
          <p:cNvSpPr>
            <a:spLocks noGrp="1"/>
          </p:cNvSpPr>
          <p:nvPr/>
        </p:nvSpPr>
        <p:spPr>
          <a:xfrm>
            <a:off x="2597944" y="2781300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周报_1时段_3局_38秒">
            <a:extLst>
              <a:ext uri="{FF2B5EF4-FFF2-40B4-BE49-F238E27FC236}">
                <a16:creationId xmlns:a16="http://schemas.microsoft.com/office/drawing/2014/main" id="{E9175244-16EA-4813-9E2A-0243A86A54D4}"/>
              </a:ext>
            </a:extLst>
          </p:cNvPr>
          <p:cNvSpPr>
            <a:spLocks noGrp="1"/>
          </p:cNvSpPr>
          <p:nvPr/>
        </p:nvSpPr>
        <p:spPr>
          <a:xfrm>
            <a:off x="2693194" y="2738438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周报_1时段_4局_40秒">
            <a:extLst>
              <a:ext uri="{FF2B5EF4-FFF2-40B4-BE49-F238E27FC236}">
                <a16:creationId xmlns:a16="http://schemas.microsoft.com/office/drawing/2014/main" id="{A46EC7B8-1940-499E-BA1E-3BA97938E38D}"/>
              </a:ext>
            </a:extLst>
          </p:cNvPr>
          <p:cNvSpPr>
            <a:spLocks noGrp="1"/>
          </p:cNvSpPr>
          <p:nvPr/>
        </p:nvSpPr>
        <p:spPr>
          <a:xfrm>
            <a:off x="3074194" y="2652713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周报_1时段_5局_36秒">
            <a:extLst>
              <a:ext uri="{FF2B5EF4-FFF2-40B4-BE49-F238E27FC236}">
                <a16:creationId xmlns:a16="http://schemas.microsoft.com/office/drawing/2014/main" id="{3365E7F1-2AC0-4C53-9D83-1563853D547F}"/>
              </a:ext>
            </a:extLst>
          </p:cNvPr>
          <p:cNvSpPr>
            <a:spLocks noGrp="1"/>
          </p:cNvSpPr>
          <p:nvPr/>
        </p:nvSpPr>
        <p:spPr>
          <a:xfrm>
            <a:off x="3169444" y="2824163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周报_2时段_1局_45秒">
            <a:extLst>
              <a:ext uri="{FF2B5EF4-FFF2-40B4-BE49-F238E27FC236}">
                <a16:creationId xmlns:a16="http://schemas.microsoft.com/office/drawing/2014/main" id="{CC15B48B-4ADB-4D3E-BBC2-3A5AE278156F}"/>
              </a:ext>
            </a:extLst>
          </p:cNvPr>
          <p:cNvSpPr>
            <a:spLocks noGrp="1"/>
          </p:cNvSpPr>
          <p:nvPr/>
        </p:nvSpPr>
        <p:spPr>
          <a:xfrm>
            <a:off x="4717256" y="2438400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周报_2时段_2局_43秒">
            <a:extLst>
              <a:ext uri="{FF2B5EF4-FFF2-40B4-BE49-F238E27FC236}">
                <a16:creationId xmlns:a16="http://schemas.microsoft.com/office/drawing/2014/main" id="{6975AF0B-2158-4524-8924-C49C5D982707}"/>
              </a:ext>
            </a:extLst>
          </p:cNvPr>
          <p:cNvSpPr>
            <a:spLocks noGrp="1"/>
          </p:cNvSpPr>
          <p:nvPr/>
        </p:nvSpPr>
        <p:spPr>
          <a:xfrm>
            <a:off x="4907756" y="2524125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周报_2时段_3局_44秒">
            <a:extLst>
              <a:ext uri="{FF2B5EF4-FFF2-40B4-BE49-F238E27FC236}">
                <a16:creationId xmlns:a16="http://schemas.microsoft.com/office/drawing/2014/main" id="{3E21B882-73D0-46BA-A8CE-4D8273A7AED4}"/>
              </a:ext>
            </a:extLst>
          </p:cNvPr>
          <p:cNvSpPr>
            <a:spLocks noGrp="1"/>
          </p:cNvSpPr>
          <p:nvPr/>
        </p:nvSpPr>
        <p:spPr>
          <a:xfrm>
            <a:off x="5003006" y="2481263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周报_2时段_4局_44秒">
            <a:extLst>
              <a:ext uri="{FF2B5EF4-FFF2-40B4-BE49-F238E27FC236}">
                <a16:creationId xmlns:a16="http://schemas.microsoft.com/office/drawing/2014/main" id="{CEC0A1BD-4E1F-4529-AB83-973337C97132}"/>
              </a:ext>
            </a:extLst>
          </p:cNvPr>
          <p:cNvSpPr>
            <a:spLocks noGrp="1"/>
          </p:cNvSpPr>
          <p:nvPr/>
        </p:nvSpPr>
        <p:spPr>
          <a:xfrm>
            <a:off x="5384006" y="2481263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周报_3时段_1局_30秒">
            <a:extLst>
              <a:ext uri="{FF2B5EF4-FFF2-40B4-BE49-F238E27FC236}">
                <a16:creationId xmlns:a16="http://schemas.microsoft.com/office/drawing/2014/main" id="{3551D62A-D33B-42E8-9295-4580119E66B0}"/>
              </a:ext>
            </a:extLst>
          </p:cNvPr>
          <p:cNvSpPr>
            <a:spLocks noGrp="1"/>
          </p:cNvSpPr>
          <p:nvPr/>
        </p:nvSpPr>
        <p:spPr>
          <a:xfrm>
            <a:off x="7027069" y="3081338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周报_3时段_2局_32秒">
            <a:extLst>
              <a:ext uri="{FF2B5EF4-FFF2-40B4-BE49-F238E27FC236}">
                <a16:creationId xmlns:a16="http://schemas.microsoft.com/office/drawing/2014/main" id="{33B58618-2337-4FDD-9BA5-F8775E54C153}"/>
              </a:ext>
            </a:extLst>
          </p:cNvPr>
          <p:cNvSpPr>
            <a:spLocks noGrp="1"/>
          </p:cNvSpPr>
          <p:nvPr/>
        </p:nvSpPr>
        <p:spPr>
          <a:xfrm>
            <a:off x="7217569" y="2995613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周报_3时段_3局_31秒">
            <a:extLst>
              <a:ext uri="{FF2B5EF4-FFF2-40B4-BE49-F238E27FC236}">
                <a16:creationId xmlns:a16="http://schemas.microsoft.com/office/drawing/2014/main" id="{3AF11271-1316-43D3-B9A0-E12852471E94}"/>
              </a:ext>
            </a:extLst>
          </p:cNvPr>
          <p:cNvSpPr>
            <a:spLocks noGrp="1"/>
          </p:cNvSpPr>
          <p:nvPr/>
        </p:nvSpPr>
        <p:spPr>
          <a:xfrm>
            <a:off x="7312819" y="3038475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周报_3时段_4局_33秒">
            <a:extLst>
              <a:ext uri="{FF2B5EF4-FFF2-40B4-BE49-F238E27FC236}">
                <a16:creationId xmlns:a16="http://schemas.microsoft.com/office/drawing/2014/main" id="{1CAB9FC4-5C20-4C9F-8E0F-D75CDC30175F}"/>
              </a:ext>
            </a:extLst>
          </p:cNvPr>
          <p:cNvSpPr>
            <a:spLocks noGrp="1"/>
          </p:cNvSpPr>
          <p:nvPr/>
        </p:nvSpPr>
        <p:spPr>
          <a:xfrm>
            <a:off x="7693819" y="2952750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周报_3时段_5局_29秒">
            <a:extLst>
              <a:ext uri="{FF2B5EF4-FFF2-40B4-BE49-F238E27FC236}">
                <a16:creationId xmlns:a16="http://schemas.microsoft.com/office/drawing/2014/main" id="{8D428365-3647-4949-9F37-6474A2835FC4}"/>
              </a:ext>
            </a:extLst>
          </p:cNvPr>
          <p:cNvSpPr>
            <a:spLocks noGrp="1"/>
          </p:cNvSpPr>
          <p:nvPr/>
        </p:nvSpPr>
        <p:spPr>
          <a:xfrm>
            <a:off x="7789069" y="3124200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周报_3时段_6局_31秒">
            <a:extLst>
              <a:ext uri="{FF2B5EF4-FFF2-40B4-BE49-F238E27FC236}">
                <a16:creationId xmlns:a16="http://schemas.microsoft.com/office/drawing/2014/main" id="{C5CF2EA2-E4A2-4C30-871A-8A902FA36C9C}"/>
              </a:ext>
            </a:extLst>
          </p:cNvPr>
          <p:cNvSpPr>
            <a:spLocks noGrp="1"/>
          </p:cNvSpPr>
          <p:nvPr/>
        </p:nvSpPr>
        <p:spPr>
          <a:xfrm>
            <a:off x="7979569" y="3038475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周报_4时段_1局_36秒">
            <a:extLst>
              <a:ext uri="{FF2B5EF4-FFF2-40B4-BE49-F238E27FC236}">
                <a16:creationId xmlns:a16="http://schemas.microsoft.com/office/drawing/2014/main" id="{EE8AD6AF-B7E1-4C09-9E50-5C6E723FA5EB}"/>
              </a:ext>
            </a:extLst>
          </p:cNvPr>
          <p:cNvSpPr>
            <a:spLocks noGrp="1"/>
          </p:cNvSpPr>
          <p:nvPr/>
        </p:nvSpPr>
        <p:spPr>
          <a:xfrm>
            <a:off x="9336881" y="2824163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周报_4时段_2局_34秒">
            <a:extLst>
              <a:ext uri="{FF2B5EF4-FFF2-40B4-BE49-F238E27FC236}">
                <a16:creationId xmlns:a16="http://schemas.microsoft.com/office/drawing/2014/main" id="{422F9BE7-5D3F-4C52-A5E6-6783E3F63D47}"/>
              </a:ext>
            </a:extLst>
          </p:cNvPr>
          <p:cNvSpPr>
            <a:spLocks noGrp="1"/>
          </p:cNvSpPr>
          <p:nvPr/>
        </p:nvSpPr>
        <p:spPr>
          <a:xfrm>
            <a:off x="9527381" y="2909888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周报_4时段_3局_35秒">
            <a:extLst>
              <a:ext uri="{FF2B5EF4-FFF2-40B4-BE49-F238E27FC236}">
                <a16:creationId xmlns:a16="http://schemas.microsoft.com/office/drawing/2014/main" id="{FF67A638-A75B-47D5-88B0-D0CCE30CBC87}"/>
              </a:ext>
            </a:extLst>
          </p:cNvPr>
          <p:cNvSpPr>
            <a:spLocks noGrp="1"/>
          </p:cNvSpPr>
          <p:nvPr/>
        </p:nvSpPr>
        <p:spPr>
          <a:xfrm>
            <a:off x="9622631" y="2867025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周报_4时段_4局_37秒">
            <a:extLst>
              <a:ext uri="{FF2B5EF4-FFF2-40B4-BE49-F238E27FC236}">
                <a16:creationId xmlns:a16="http://schemas.microsoft.com/office/drawing/2014/main" id="{2AB6517E-BAB1-4A5E-A463-06E54CE34D10}"/>
              </a:ext>
            </a:extLst>
          </p:cNvPr>
          <p:cNvSpPr>
            <a:spLocks noGrp="1"/>
          </p:cNvSpPr>
          <p:nvPr/>
        </p:nvSpPr>
        <p:spPr>
          <a:xfrm>
            <a:off x="10003631" y="2781300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周报_4时段_5局_33秒">
            <a:extLst>
              <a:ext uri="{FF2B5EF4-FFF2-40B4-BE49-F238E27FC236}">
                <a16:creationId xmlns:a16="http://schemas.microsoft.com/office/drawing/2014/main" id="{30BB0C5F-5332-49D3-84DD-E7AD27C8ACEF}"/>
              </a:ext>
            </a:extLst>
          </p:cNvPr>
          <p:cNvSpPr>
            <a:spLocks noGrp="1"/>
          </p:cNvSpPr>
          <p:nvPr/>
        </p:nvSpPr>
        <p:spPr>
          <a:xfrm>
            <a:off x="10098881" y="2952750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周报_4时段_6局_35秒">
            <a:extLst>
              <a:ext uri="{FF2B5EF4-FFF2-40B4-BE49-F238E27FC236}">
                <a16:creationId xmlns:a16="http://schemas.microsoft.com/office/drawing/2014/main" id="{D9D75EB8-70D5-4853-BDF3-B36A95D00030}"/>
              </a:ext>
            </a:extLst>
          </p:cNvPr>
          <p:cNvSpPr>
            <a:spLocks noGrp="1"/>
          </p:cNvSpPr>
          <p:nvPr/>
        </p:nvSpPr>
        <p:spPr>
          <a:xfrm>
            <a:off x="10289381" y="2867025"/>
            <a:ext cx="66675" cy="66675"/>
          </a:xfrm>
          <a:prstGeom prst="ellipse">
            <a:avLst/>
          </a:prstGeom>
          <a:solidFill>
            <a:srgbClr val="28274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3C4F41-E2FD-4E03-B7BA-9D458E93CA49}"/>
              </a:ext>
            </a:extLst>
          </p:cNvPr>
          <p:cNvSpPr>
            <a:spLocks noGrp="1"/>
          </p:cNvSpPr>
          <p:nvPr/>
        </p:nvSpPr>
        <p:spPr>
          <a:xfrm>
            <a:off x="308610" y="308610"/>
            <a:ext cx="11574780" cy="62407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B60B7D-61E5-4724-B3EB-474380779A65}"/>
              </a:ext>
            </a:extLst>
          </p:cNvPr>
          <p:cNvSpPr>
            <a:spLocks noGrp="1"/>
          </p:cNvSpPr>
          <p:nvPr/>
        </p:nvSpPr>
        <p:spPr>
          <a:xfrm>
            <a:off x="666750" y="409575"/>
            <a:ext cx="10858500" cy="51816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8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0" dirty="0" err="1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潜在商业价值</a:t>
            </a:r>
            <a:endParaRPr sz="2800" b="0" dirty="0">
              <a:solidFill>
                <a:srgbClr val="403D7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1E66C0-169C-4866-9314-18BA36FDC6FC}"/>
              </a:ext>
            </a:extLst>
          </p:cNvPr>
          <p:cNvSpPr>
            <a:spLocks noGrp="1"/>
          </p:cNvSpPr>
          <p:nvPr/>
        </p:nvSpPr>
        <p:spPr>
          <a:xfrm>
            <a:off x="762000" y="885825"/>
            <a:ext cx="10668000" cy="35052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大脑减负与专注练习创造服务价值</a:t>
            </a:r>
          </a:p>
        </p:txBody>
      </p:sp>
      <p:sp>
        <p:nvSpPr>
          <p:cNvPr id="18" name="个人用户">
            <a:extLst>
              <a:ext uri="{FF2B5EF4-FFF2-40B4-BE49-F238E27FC236}">
                <a16:creationId xmlns:a16="http://schemas.microsoft.com/office/drawing/2014/main" id="{5F92B2BF-3D69-4CD7-834F-47C79A56DC6C}"/>
              </a:ext>
            </a:extLst>
          </p:cNvPr>
          <p:cNvSpPr>
            <a:spLocks noGrp="1"/>
          </p:cNvSpPr>
          <p:nvPr/>
        </p:nvSpPr>
        <p:spPr>
          <a:xfrm>
            <a:off x="990600" y="1533525"/>
            <a:ext cx="4667250" cy="800100"/>
          </a:xfrm>
          <a:prstGeom prst="rect">
            <a:avLst/>
          </a:prstGeom>
          <a:solidFill>
            <a:srgbClr val="494580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用户价值</a:t>
            </a:r>
          </a:p>
        </p:txBody>
      </p:sp>
      <p:sp>
        <p:nvSpPr>
          <p:cNvPr id="19" name="教育场景">
            <a:extLst>
              <a:ext uri="{FF2B5EF4-FFF2-40B4-BE49-F238E27FC236}">
                <a16:creationId xmlns:a16="http://schemas.microsoft.com/office/drawing/2014/main" id="{EA745A31-4E7A-4017-85B3-E6E707DFAFF2}"/>
              </a:ext>
            </a:extLst>
          </p:cNvPr>
          <p:cNvSpPr>
            <a:spLocks noGrp="1"/>
          </p:cNvSpPr>
          <p:nvPr/>
        </p:nvSpPr>
        <p:spPr>
          <a:xfrm>
            <a:off x="6534150" y="1533525"/>
            <a:ext cx="4667250" cy="800100"/>
          </a:xfrm>
          <a:prstGeom prst="rect">
            <a:avLst/>
          </a:prstGeom>
          <a:solidFill>
            <a:srgbClr val="494580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商业路径</a:t>
            </a:r>
          </a:p>
        </p:txBody>
      </p:sp>
      <p:sp>
        <p:nvSpPr>
          <p:cNvPr id="20" name="基础功能">
            <a:extLst>
              <a:ext uri="{FF2B5EF4-FFF2-40B4-BE49-F238E27FC236}">
                <a16:creationId xmlns:a16="http://schemas.microsoft.com/office/drawing/2014/main" id="{8B1FD839-FD30-4CB3-AF5B-3ADD90BD1F4A}"/>
              </a:ext>
            </a:extLst>
          </p:cNvPr>
          <p:cNvSpPr>
            <a:spLocks noGrp="1"/>
          </p:cNvSpPr>
          <p:nvPr/>
        </p:nvSpPr>
        <p:spPr>
          <a:xfrm>
            <a:off x="1209675" y="2752725"/>
            <a:ext cx="4229100" cy="1171575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事项记录</a:t>
            </a:r>
          </a:p>
          <a:p>
            <a:pPr algn="ctr">
              <a:buNone/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减少记忆负担</a:t>
            </a:r>
          </a:p>
        </p:txBody>
      </p:sp>
      <p:sp>
        <p:nvSpPr>
          <p:cNvPr id="21" name="订阅探索">
            <a:extLst>
              <a:ext uri="{FF2B5EF4-FFF2-40B4-BE49-F238E27FC236}">
                <a16:creationId xmlns:a16="http://schemas.microsoft.com/office/drawing/2014/main" id="{458518E0-DCC7-4AB8-B2CD-EA9FC0035F3E}"/>
              </a:ext>
            </a:extLst>
          </p:cNvPr>
          <p:cNvSpPr>
            <a:spLocks noGrp="1"/>
          </p:cNvSpPr>
          <p:nvPr/>
        </p:nvSpPr>
        <p:spPr>
          <a:xfrm>
            <a:off x="1209675" y="4524375"/>
            <a:ext cx="4229100" cy="1171575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专注训练</a:t>
            </a:r>
          </a:p>
          <a:p>
            <a:pPr algn="ctr">
              <a:buNone/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视觉搜索练习与复盘</a:t>
            </a:r>
          </a:p>
        </p:txBody>
      </p:sp>
      <p:sp>
        <p:nvSpPr>
          <p:cNvPr id="22" name="试点路径">
            <a:extLst>
              <a:ext uri="{FF2B5EF4-FFF2-40B4-BE49-F238E27FC236}">
                <a16:creationId xmlns:a16="http://schemas.microsoft.com/office/drawing/2014/main" id="{A29D1E9F-C7BD-4958-953F-8FA557929B2C}"/>
              </a:ext>
            </a:extLst>
          </p:cNvPr>
          <p:cNvSpPr>
            <a:spLocks noGrp="1"/>
          </p:cNvSpPr>
          <p:nvPr/>
        </p:nvSpPr>
        <p:spPr>
          <a:xfrm>
            <a:off x="6753225" y="2752725"/>
            <a:ext cx="4229100" cy="1171575"/>
          </a:xfrm>
          <a:prstGeom prst="rect">
            <a:avLst/>
          </a:prstGeom>
          <a:solidFill>
            <a:srgbClr val="E5E5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个人订阅</a:t>
            </a:r>
          </a:p>
          <a:p>
            <a:pPr algn="ctr">
              <a:buNone/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长期报告与个性化反馈</a:t>
            </a:r>
          </a:p>
        </p:txBody>
      </p:sp>
      <p:sp>
        <p:nvSpPr>
          <p:cNvPr id="23" name="验证重点">
            <a:extLst>
              <a:ext uri="{FF2B5EF4-FFF2-40B4-BE49-F238E27FC236}">
                <a16:creationId xmlns:a16="http://schemas.microsoft.com/office/drawing/2014/main" id="{6BF35601-0D8A-41C6-94B2-D9C3D3A09BE4}"/>
              </a:ext>
            </a:extLst>
          </p:cNvPr>
          <p:cNvSpPr>
            <a:spLocks noGrp="1"/>
          </p:cNvSpPr>
          <p:nvPr/>
        </p:nvSpPr>
        <p:spPr>
          <a:xfrm>
            <a:off x="6753225" y="4524375"/>
            <a:ext cx="4229100" cy="1171575"/>
          </a:xfrm>
          <a:prstGeom prst="rect">
            <a:avLst/>
          </a:prstGeom>
          <a:solidFill>
            <a:srgbClr val="E2E8F2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教育合作</a:t>
            </a:r>
          </a:p>
          <a:p>
            <a:pPr algn="ctr">
              <a:buNone/>
              <a:def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282743"/>
                </a:solidFill>
                <a:latin typeface="微软雅黑"/>
                <a:ea typeface="微软雅黑"/>
                <a:cs typeface="微软雅黑"/>
              </a:rPr>
              <a:t>学习支持服务试点</a:t>
            </a:r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1C7E56CC-2B44-4CA4-A72C-46A3C33E1237}"/>
              </a:ext>
            </a:extLst>
          </p:cNvPr>
          <p:cNvCxnSpPr>
            <a:stCxn id="18" idx="2"/>
            <a:endCxn id="20" idx="0"/>
          </p:cNvCxnSpPr>
          <p:nvPr/>
        </p:nvCxnSpPr>
        <p:spPr>
          <a:xfrm>
            <a:off x="3324225" y="2333625"/>
            <a:ext cx="0" cy="419100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E57BB31-04D9-488D-AB27-363CA30F8B8F}"/>
              </a:ext>
            </a:extLst>
          </p:cNvPr>
          <p:cNvCxnSpPr>
            <a:stCxn id="20" idx="2"/>
            <a:endCxn id="21" idx="0"/>
          </p:cNvCxnSpPr>
          <p:nvPr/>
        </p:nvCxnSpPr>
        <p:spPr>
          <a:xfrm>
            <a:off x="3324225" y="3924300"/>
            <a:ext cx="0" cy="600075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5B0D6FA8-90B9-4F62-B9EA-80E059DC6E2B}"/>
              </a:ext>
            </a:extLst>
          </p:cNvPr>
          <p:cNvCxnSpPr>
            <a:stCxn id="19" idx="2"/>
            <a:endCxn id="22" idx="0"/>
          </p:cNvCxnSpPr>
          <p:nvPr/>
        </p:nvCxnSpPr>
        <p:spPr>
          <a:xfrm>
            <a:off x="8867775" y="2333625"/>
            <a:ext cx="0" cy="419100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B68B919-BEF3-4C9C-B572-EF03B3DB2D58}"/>
              </a:ext>
            </a:extLst>
          </p:cNvPr>
          <p:cNvCxnSpPr>
            <a:stCxn id="22" idx="2"/>
            <a:endCxn id="23" idx="0"/>
          </p:cNvCxnSpPr>
          <p:nvPr/>
        </p:nvCxnSpPr>
        <p:spPr>
          <a:xfrm>
            <a:off x="8867775" y="3924300"/>
            <a:ext cx="0" cy="600075"/>
          </a:xfrm>
          <a:prstGeom prst="straightConnector1">
            <a:avLst/>
          </a:prstGeom>
          <a:ln w="19050">
            <a:solidFill>
              <a:srgbClr val="79769A"/>
            </a:solidFill>
            <a:headEnd type="none" w="med" len="med"/>
            <a:tailEnd type="none" w="med" len="med"/>
          </a:ln>
        </p:spPr>
      </p:cxnSp>
      <p:sp>
        <p:nvSpPr>
          <p:cNvPr id="28" name="底部正文">
            <a:extLst>
              <a:ext uri="{FF2B5EF4-FFF2-40B4-BE49-F238E27FC236}">
                <a16:creationId xmlns:a16="http://schemas.microsoft.com/office/drawing/2014/main" id="{64782C8B-C573-46E0-944C-2901E5248C92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buNone/>
              <a:def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defRPr>
            </a:pPr>
            <a:r>
              <a:rPr sz="1700" b="0">
                <a:solidFill>
                  <a:srgbClr val="403D70"/>
                </a:solidFill>
                <a:latin typeface="微软雅黑"/>
                <a:ea typeface="微软雅黑"/>
                <a:cs typeface="微软雅黑"/>
              </a:rPr>
              <a:t>以行动完成和训练反馈衡量价值，不以停留时长变现</a:t>
            </a:r>
          </a:p>
        </p:txBody>
      </p:sp>
    </p:spTree>
    <p:extLst>
      <p:ext uri="{BB962C8B-B14F-4D97-AF65-F5344CB8AC3E}">
        <p14:creationId xmlns:p14="http://schemas.microsoft.com/office/powerpoint/2010/main" val="17960462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664A75-BB42-3DF0-4A8E-9054C575E780}"/>
              </a:ext>
            </a:extLst>
          </p:cNvPr>
          <p:cNvSpPr txBox="1"/>
          <p:nvPr/>
        </p:nvSpPr>
        <p:spPr>
          <a:xfrm>
            <a:off x="2772013" y="3007402"/>
            <a:ext cx="66479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72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+mj-ea"/>
                <a:ea typeface="+mj-ea"/>
              </a:rPr>
              <a:t>感谢大家的观看</a:t>
            </a:r>
          </a:p>
        </p:txBody>
      </p:sp>
    </p:spTree>
    <p:extLst>
      <p:ext uri="{BB962C8B-B14F-4D97-AF65-F5344CB8AC3E}">
        <p14:creationId xmlns:p14="http://schemas.microsoft.com/office/powerpoint/2010/main" val="3691416531"/>
      </p:ext>
    </p:extLst>
  </p:cSld>
  <p:clrMapOvr>
    <a:masterClrMapping/>
  </p:clrMapOvr>
</p:sld>
</file>

<file path=ppt/theme/theme1.xml><?xml version="1.0" encoding="utf-8"?>
<a:theme xmlns:a="http://schemas.openxmlformats.org/drawingml/2006/main" name="唐峰设计：https://v.youku.com/v_show/id_XNTg4OTcwMDM3Ng==.html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唐峰设计：https://v.youku.com/v_show/id_XNTg4OTcwMDM3Ng==.html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新版空白演示配色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848</Words>
  <Application>Microsoft Office PowerPoint</Application>
  <DocSecurity>0</DocSecurity>
  <PresentationFormat>宽屏</PresentationFormat>
  <Paragraphs>172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微软雅黑</vt:lpstr>
      <vt:lpstr>Wingdings</vt:lpstr>
      <vt:lpstr>Arial</vt:lpstr>
      <vt:lpstr>字魂创粗黑</vt:lpstr>
      <vt:lpstr>唐峰设计：https://v.youku.com/v_show/id_XNTg4OTcwMDM3Ng==.html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Óðinn Ríkharðsson</cp:lastModifiedBy>
  <cp:revision>3</cp:revision>
  <dcterms:created xsi:type="dcterms:W3CDTF">2026-10-03T19:09:28Z</dcterms:created>
  <dcterms:modified xsi:type="dcterms:W3CDTF">2026-10-04T00:40:41Z</dcterms:modified>
</cp:coreProperties>
</file>